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 CNN</c:v>
                </c:pt>
              </c:strCache>
            </c:strRef>
          </c:tx>
          <c:spPr>
            <a:solidFill>
              <a:srgbClr val="1E2761"/>
            </a:solidFill>
            <a:effectLst/>
          </c:spPr>
          <c:invertIfNegative val="0"/>
          <c:dLbls>
            <c:numFmt formatCode="#,##0" sourceLinked="0"/>
            <c:txPr>
              <a:bodyPr/>
              <a:lstStyle/>
              <a:p>
                <a:pPr>
                  <a:defRPr b="0" i="0" strike="noStrike" sz="1200" u="none">
                    <a:solidFill>
                      <a:srgbClr val="1A1A2E"/>
                    </a:solidFill>
                    <a:latin typeface="Arial"/>
                  </a:defRPr>
                </a:pPr>
              </a:p>
            </c:txPr>
            <c:showLegendKey val="0"/>
            <c:showVal val="0"/>
            <c:showCatName val="0"/>
            <c:showSerName val="0"/>
            <c:showPercent val="0"/>
            <c:showBubbleSize val="0"/>
            <c:showLeaderLines val="0"/>
          </c:dLbls>
          <c:cat>
            <c:multiLvlStrRef>
              <c:f>Sheet1!$A$2:$A$4</c:f>
              <c:multiLvlStrCache>
                <c:ptCount val="3"/>
                <c:lvl>
                  <c:pt idx="0">
                    <c:v>Kaggle (in-domain)</c:v>
                  </c:pt>
                  <c:pt idx="1">
                    <c:v>NIH (external)</c:v>
                  </c:pt>
                  <c:pt idx="2">
                    <c:v>OpenI (external)</c:v>
                  </c:pt>
                </c:lvl>
              </c:multiLvlStrCache>
            </c:multiLvlStrRef>
          </c:cat>
          <c:val>
            <c:numRef>
              <c:f>Sheet1!$B$2:$B$4</c:f>
              <c:numCache>
                <c:formatCode>General</c:formatCode>
                <c:ptCount val="3"/>
                <c:pt idx="0">
                  <c:v>0.975</c:v>
                </c:pt>
                <c:pt idx="1">
                  <c:v>0.62</c:v>
                </c:pt>
                <c:pt idx="2">
                  <c:v>0.512</c:v>
                </c:pt>
              </c:numCache>
            </c:numRef>
          </c:val>
        </c:ser>
        <c:ser>
          <c:idx val="1"/>
          <c:order val="1"/>
          <c:tx>
            <c:strRef>
              <c:f>Sheet1!$C$1</c:f>
              <c:strCache>
                <c:ptCount val="1"/>
                <c:pt idx="0">
                  <c:v>ResNet-50</c:v>
                </c:pt>
              </c:strCache>
            </c:strRef>
          </c:tx>
          <c:spPr>
            <a:solidFill>
              <a:srgbClr val="5B7FD8"/>
            </a:solidFill>
            <a:effectLst/>
          </c:spPr>
          <c:invertIfNegative val="0"/>
          <c:dLbls>
            <c:numFmt formatCode="#,##0" sourceLinked="0"/>
            <c:txPr>
              <a:bodyPr/>
              <a:lstStyle/>
              <a:p>
                <a:pPr>
                  <a:defRPr b="0" i="0" strike="noStrike" sz="1200" u="none">
                    <a:solidFill>
                      <a:srgbClr val="1A1A2E"/>
                    </a:solidFill>
                    <a:latin typeface="Arial"/>
                  </a:defRPr>
                </a:pPr>
              </a:p>
            </c:txPr>
            <c:showLegendKey val="0"/>
            <c:showVal val="0"/>
            <c:showCatName val="0"/>
            <c:showSerName val="0"/>
            <c:showPercent val="0"/>
            <c:showBubbleSize val="0"/>
            <c:showLeaderLines val="0"/>
          </c:dLbls>
          <c:cat>
            <c:multiLvlStrRef>
              <c:f>Sheet1!$A$2:$A$4</c:f>
              <c:multiLvlStrCache>
                <c:ptCount val="3"/>
                <c:lvl>
                  <c:pt idx="0">
                    <c:v>Kaggle (in-domain)</c:v>
                  </c:pt>
                  <c:pt idx="1">
                    <c:v>NIH (external)</c:v>
                  </c:pt>
                  <c:pt idx="2">
                    <c:v>OpenI (external)</c:v>
                  </c:pt>
                </c:lvl>
              </c:multiLvlStrCache>
            </c:multiLvlStrRef>
          </c:cat>
          <c:val>
            <c:numRef>
              <c:f>Sheet1!$C$2:$C$4</c:f>
              <c:numCache>
                <c:formatCode>General</c:formatCode>
                <c:ptCount val="3"/>
                <c:pt idx="0">
                  <c:v>0.992</c:v>
                </c:pt>
                <c:pt idx="1">
                  <c:v>0.707</c:v>
                </c:pt>
                <c:pt idx="2">
                  <c:v>0.575</c:v>
                </c:pt>
              </c:numCache>
            </c:numRef>
          </c:val>
        </c:ser>
        <c:ser>
          <c:idx val="2"/>
          <c:order val="2"/>
          <c:tx>
            <c:strRef>
              <c:f>Sheet1!$D$1</c:f>
              <c:strCache>
                <c:ptCount val="1"/>
                <c:pt idx="0">
                  <c:v>DenseNet-121</c:v>
                </c:pt>
              </c:strCache>
            </c:strRef>
          </c:tx>
          <c:spPr>
            <a:solidFill>
              <a:srgbClr val="C0392B"/>
            </a:solidFill>
            <a:effectLst/>
          </c:spPr>
          <c:invertIfNegative val="0"/>
          <c:dLbls>
            <c:numFmt formatCode="#,##0" sourceLinked="0"/>
            <c:txPr>
              <a:bodyPr/>
              <a:lstStyle/>
              <a:p>
                <a:pPr>
                  <a:defRPr b="0" i="0" strike="noStrike" sz="1200" u="none">
                    <a:solidFill>
                      <a:srgbClr val="1A1A2E"/>
                    </a:solidFill>
                    <a:latin typeface="Arial"/>
                  </a:defRPr>
                </a:pPr>
              </a:p>
            </c:txPr>
            <c:showLegendKey val="0"/>
            <c:showVal val="0"/>
            <c:showCatName val="0"/>
            <c:showSerName val="0"/>
            <c:showPercent val="0"/>
            <c:showBubbleSize val="0"/>
            <c:showLeaderLines val="0"/>
          </c:dLbls>
          <c:cat>
            <c:multiLvlStrRef>
              <c:f>Sheet1!$A$2:$A$4</c:f>
              <c:multiLvlStrCache>
                <c:ptCount val="3"/>
                <c:lvl>
                  <c:pt idx="0">
                    <c:v>Kaggle (in-domain)</c:v>
                  </c:pt>
                  <c:pt idx="1">
                    <c:v>NIH (external)</c:v>
                  </c:pt>
                  <c:pt idx="2">
                    <c:v>OpenI (external)</c:v>
                  </c:pt>
                </c:lvl>
              </c:multiLvlStrCache>
            </c:multiLvlStrRef>
          </c:cat>
          <c:val>
            <c:numRef>
              <c:f>Sheet1!$D$2:$D$4</c:f>
              <c:numCache>
                <c:formatCode>General</c:formatCode>
                <c:ptCount val="3"/>
                <c:pt idx="0">
                  <c:v>0.991</c:v>
                </c:pt>
                <c:pt idx="1">
                  <c:v>0.679</c:v>
                </c:pt>
                <c:pt idx="2">
                  <c:v>0.591</c:v>
                </c:pt>
              </c:numCache>
            </c:numRef>
          </c:val>
        </c:ser>
        <c:dLbls>
          <c:numFmt formatCode="#,##0" sourceLinked="0"/>
          <c:txPr>
            <a:bodyPr/>
            <a:lstStyle/>
            <a:p>
              <a:pPr>
                <a:defRPr b="0" i="0" strike="noStrike" sz="1200" u="none">
                  <a:solidFill>
                    <a:srgbClr val="1A1A2E"/>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12700" cap="flat">
              <a:solidFill>
                <a:srgbClr val="E5E8F0"/>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AUC-ROC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A2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project audits three pneumonia-detection models -- not just for accuracy, but for why they fail once they leave the hospital they were trained in. I'll walk through the setup, the headline domain-shift result, and what it means for a real deployment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published papers set this up. Zech et al. showed a pneumonia CNN partly relying on scanner artifacts instead of pathology. DeGrave et al. found the same shortcut-learning pattern in COVID classifiers. So the real question isn't just whether domain shift is real -- it's whether we can explain it with a specific, testable mechanism instead of shrugging and calling it 'domain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guided this work, but they really boil down to one thread: does the model know what pneumonia looks like, or has it learned a shortcut that happens to correlate with the training hospital? Everything after this slide is in service of answering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institutions: Kaggle's pediatric set for training, NIH and Indiana University's OpenI collection for external validation, never trained on. Note the prevalence swing -- 73 percent positive in training versus 2 to 6 percent in the external sets. That mismatch matters a lot later. Also flagging the patient-level split: images from the same patient can't leak across train and test, which the official Kaggle split doesn't guarantee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architectures: a from-scratch baseline CNN, and two ImageNet-pretrained transfer models, ResNet-50 and DenseNet-121. The evaluation pipeline runs statistical testing, three-way domain-shift evaluation, Grad-CAM auditing, a border-masking ablation, and a causal regression -- I'll walk through each of these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In-domain, both transfer models clearly beat the baseline, and McNemar's test confirms that's not noise -- p less than 0.001 for both comparisons. Interestingly, ResNet-50 and DenseNet-121 are statistically indistinguishable from each other. So transfer learning matters; which specific pretrained backbone you pick, less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result. All three models collapse when moved to external data, but not the same way -- baseline CNN's AUC-ROC on OpenI is 0.512, with a bootstrapped confidence interval that actually straddles 0.5, so it's not reliably better than chance. ResNet-50 flips the ranking between NIH and OpenI. If domain shift were one monolithic effect, every model would rank the two external sites the same way. They don't -- direct evidence this isn't a single unexplained black-box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quantitative core of the shortcut-learning claim. Even on correct predictions, Grad-CAM attention overlaps the segmented lung field only 12 to 16 percent of the time, and 74 to 81 percent of correct predictions fall under our 30 percent shortcut threshold. The border-masking test adds a mechanistic detail: blanking the outer 10 percent of the image costs the baseline CNN almost 15 accuracy points, but barely touches the transfer models -- so the specific shortcut differs by architecture, even though all three are looking somewhere they shouldn't.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case makes the abstract statistic concrete. Normal chest X-ray, predicted pneumonia with 100 percent confidence -- and the entire Grad-CAM attention sits on the letter R laterality marker in the corner. Maximum confidence, and completely wrong for a reason that has nothing to do with the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is this shortcut reliance actually about pediatric-versus-adult age, or something more mechanical, like image resolution? The answer is mixed across architectures, which is itself informative. For the baseline CNN, age isn't significant once you control for resolution -- resolution alone explains it. For ResNet-50, all three factors are significant, including the text-marker proxy, which validates that our coarse heuristic is picking up something real. The one consistent finding across all three: age group by itself is not a reliable explanation for shortcut reliance.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this together for a deployment conversation: the training data itself needed active correction -- we found and fixed corrupted files and patient-level leakage. Shortcut reliance isn't rare, it's the majority case. Generalization isn't a single number since the two external sites disagree. And the bottom line: none of these three models should run autonomously outside a population like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honesty notes before the conclusion: these are real but not necessarily fully converged models. Text-marker detection is a coarse heuristic, not real OCR, since no OCR engine was available. The causal-analysis samples are modest, so individual coefficients should be read cautiously. And we only got two of the three originally planned external sites, since CheXpert and VinDr-CXR both turned out to be impractical for documented reasons, not just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transfer learning wins in-domain, decisively. But that in-domain edge doesn't buy trustworthy generalization -- all three models fail non-uniformly outside their training distribution, and where we can explain that failure statistically, it's resolution and detected artifacts, not an unexplained domain-shift or age label. That's the difference between a black-box excuse and a testable, actionable finding -- and a concrete argument against single-site validation as grounds for clinical deployment.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148840"/>
            <a:ext cx="1051560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CHEST X-RAY DOMAIN-SHIFT &amp;</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SHORTCUT-LEARNING AUDIT</a:t>
            </a:r>
            <a:endParaRPr lang="en-US" sz="4000" dirty="0"/>
          </a:p>
        </p:txBody>
      </p:sp>
      <p:sp>
        <p:nvSpPr>
          <p:cNvPr id="3" name="Text 1"/>
          <p:cNvSpPr/>
          <p:nvPr/>
        </p:nvSpPr>
        <p:spPr>
          <a:xfrm>
            <a:off x="822960" y="3794760"/>
            <a:ext cx="8961120" cy="82296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A pneumonia classifier that scores 97% in the hospital it was trained in—and why that number alone should not earn anyone's trust.</a:t>
            </a:r>
            <a:endParaRPr lang="en-US" sz="1700" dirty="0"/>
          </a:p>
        </p:txBody>
      </p:sp>
      <p:sp>
        <p:nvSpPr>
          <p:cNvPr id="4" name="Text 2"/>
          <p:cNvSpPr/>
          <p:nvPr/>
        </p:nvSpPr>
        <p:spPr>
          <a:xfrm>
            <a:off x="822960" y="5989320"/>
            <a:ext cx="9601200" cy="365760"/>
          </a:xfrm>
          <a:prstGeom prst="rect">
            <a:avLst/>
          </a:prstGeom>
          <a:noFill/>
          <a:ln/>
        </p:spPr>
        <p:txBody>
          <a:bodyPr wrap="square" lIns="0" tIns="0" rIns="0" bIns="0" rtlCol="0" anchor="ctr"/>
          <a:lstStyle/>
          <a:p>
            <a:pPr indent="0" marL="0">
              <a:buNone/>
            </a:pPr>
            <a:r>
              <a:rPr lang="en-US" sz="1200" dirty="0">
                <a:solidFill>
                  <a:srgbClr val="8A93C4"/>
                </a:solidFill>
                <a:latin typeface="Calibri" pitchFamily="34" charset="0"/>
                <a:ea typeface="Calibri" pitchFamily="34" charset="-122"/>
                <a:cs typeface="Calibri" pitchFamily="34" charset="-120"/>
              </a:rPr>
              <a:t>Honors Case Study  —  Baseline CNN, ResNet-50, DenseNet-121  —  Kaggle → NIH → OpenI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MOTIVATION</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Domain shift is a documented failure, not a hypothetical one</a:t>
            </a:r>
            <a:endParaRPr lang="en-US" sz="3000" dirty="0"/>
          </a:p>
        </p:txBody>
      </p:sp>
      <p:sp>
        <p:nvSpPr>
          <p:cNvPr id="6" name="Text 3"/>
          <p:cNvSpPr/>
          <p:nvPr/>
        </p:nvSpPr>
        <p:spPr>
          <a:xfrm>
            <a:off x="548640" y="1691640"/>
            <a:ext cx="6309360" cy="1371600"/>
          </a:xfrm>
          <a:prstGeom prst="rect">
            <a:avLst/>
          </a:prstGeom>
          <a:noFill/>
          <a:ln/>
        </p:spPr>
        <p:txBody>
          <a:bodyPr wrap="square" lIns="0" tIns="0" rIns="0" bIns="0" rtlCol="0" anchor="ctr"/>
          <a:lstStyle/>
          <a:p>
            <a:pPr indent="0" marL="0">
              <a:lnSpc>
                <a:spcPct val="125000"/>
              </a:lnSpc>
              <a:buNone/>
            </a:pPr>
            <a:r>
              <a:rPr lang="en-US" sz="1500" dirty="0">
                <a:solidFill>
                  <a:srgbClr val="1A1A2E"/>
                </a:solidFill>
                <a:latin typeface="Calibri" pitchFamily="34" charset="0"/>
                <a:ea typeface="Calibri" pitchFamily="34" charset="-122"/>
                <a:cs typeface="Calibri" pitchFamily="34" charset="-120"/>
              </a:rPr>
              <a:t>Deep learning models for medical imaging routinely reach high in-distribution accuracy, then fail silently once deployed outside the hospital system they were trained on.</a:t>
            </a:r>
            <a:endParaRPr lang="en-US" sz="1500" dirty="0"/>
          </a:p>
        </p:txBody>
      </p:sp>
      <p:sp>
        <p:nvSpPr>
          <p:cNvPr id="7" name="Shape 4"/>
          <p:cNvSpPr/>
          <p:nvPr/>
        </p:nvSpPr>
        <p:spPr>
          <a:xfrm>
            <a:off x="548640" y="3246120"/>
            <a:ext cx="6309360" cy="1188720"/>
          </a:xfrm>
          <a:prstGeom prst="roundRect">
            <a:avLst>
              <a:gd name="adj" fmla="val 6154"/>
            </a:avLst>
          </a:prstGeom>
          <a:solidFill>
            <a:srgbClr val="F4F6FB"/>
          </a:solidFill>
          <a:ln/>
        </p:spPr>
      </p:sp>
      <p:sp>
        <p:nvSpPr>
          <p:cNvPr id="8" name="Text 5"/>
          <p:cNvSpPr/>
          <p:nvPr/>
        </p:nvSpPr>
        <p:spPr>
          <a:xfrm>
            <a:off x="777240" y="3383280"/>
            <a:ext cx="5852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Zech et al., 2018</a:t>
            </a:r>
            <a:endParaRPr lang="en-US" sz="1300" dirty="0"/>
          </a:p>
        </p:txBody>
      </p:sp>
      <p:sp>
        <p:nvSpPr>
          <p:cNvPr id="9" name="Text 6"/>
          <p:cNvSpPr/>
          <p:nvPr/>
        </p:nvSpPr>
        <p:spPr>
          <a:xfrm>
            <a:off x="777240" y="3685032"/>
            <a:ext cx="5852160" cy="68580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A pneumonia CNN partly learned to recognize hospital-specific scanner artifacts and text markers — not pathology.</a:t>
            </a:r>
            <a:endParaRPr lang="en-US" sz="1150" dirty="0"/>
          </a:p>
        </p:txBody>
      </p:sp>
      <p:sp>
        <p:nvSpPr>
          <p:cNvPr id="10" name="Shape 7"/>
          <p:cNvSpPr/>
          <p:nvPr/>
        </p:nvSpPr>
        <p:spPr>
          <a:xfrm>
            <a:off x="548640" y="4617720"/>
            <a:ext cx="6309360" cy="1188720"/>
          </a:xfrm>
          <a:prstGeom prst="roundRect">
            <a:avLst>
              <a:gd name="adj" fmla="val 6154"/>
            </a:avLst>
          </a:prstGeom>
          <a:solidFill>
            <a:srgbClr val="F4F6FB"/>
          </a:solidFill>
          <a:ln/>
        </p:spPr>
      </p:sp>
      <p:sp>
        <p:nvSpPr>
          <p:cNvPr id="11" name="Text 8"/>
          <p:cNvSpPr/>
          <p:nvPr/>
        </p:nvSpPr>
        <p:spPr>
          <a:xfrm>
            <a:off x="777240" y="4754880"/>
            <a:ext cx="58521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DeGrave et al., 2021</a:t>
            </a:r>
            <a:endParaRPr lang="en-US" sz="1300" dirty="0"/>
          </a:p>
        </p:txBody>
      </p:sp>
      <p:sp>
        <p:nvSpPr>
          <p:cNvPr id="12" name="Text 9"/>
          <p:cNvSpPr/>
          <p:nvPr/>
        </p:nvSpPr>
        <p:spPr>
          <a:xfrm>
            <a:off x="777240" y="5056632"/>
            <a:ext cx="5852160" cy="68580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Calibri" pitchFamily="34" charset="0"/>
                <a:ea typeface="Calibri" pitchFamily="34" charset="-122"/>
                <a:cs typeface="Calibri" pitchFamily="34" charset="-120"/>
              </a:rPr>
              <a:t>The same shortcut-learning behavior found in COVID-19 chest X-ray classifiers — this is a pattern, not a one-off.</a:t>
            </a:r>
            <a:endParaRPr lang="en-US" sz="1150" dirty="0"/>
          </a:p>
        </p:txBody>
      </p:sp>
      <p:sp>
        <p:nvSpPr>
          <p:cNvPr id="13" name="Shape 10"/>
          <p:cNvSpPr/>
          <p:nvPr/>
        </p:nvSpPr>
        <p:spPr>
          <a:xfrm>
            <a:off x="7178040" y="1691640"/>
            <a:ext cx="4480560" cy="4526280"/>
          </a:xfrm>
          <a:prstGeom prst="roundRect">
            <a:avLst>
              <a:gd name="adj" fmla="val 2041"/>
            </a:avLst>
          </a:prstGeom>
          <a:solidFill>
            <a:srgbClr val="1E2761"/>
          </a:solidFill>
          <a:ln/>
        </p:spPr>
      </p:sp>
      <p:sp>
        <p:nvSpPr>
          <p:cNvPr id="14" name="Text 11"/>
          <p:cNvSpPr/>
          <p:nvPr/>
        </p:nvSpPr>
        <p:spPr>
          <a:xfrm>
            <a:off x="7452360" y="1965960"/>
            <a:ext cx="3931920" cy="320040"/>
          </a:xfrm>
          <a:prstGeom prst="rect">
            <a:avLst/>
          </a:prstGeom>
          <a:noFill/>
          <a:ln/>
        </p:spPr>
        <p:txBody>
          <a:bodyPr wrap="square" lIns="0" tIns="0" rIns="0" bIns="0" rtlCol="0" anchor="ctr"/>
          <a:lstStyle/>
          <a:p>
            <a:pPr indent="0" marL="0">
              <a:buNone/>
            </a:pPr>
            <a:r>
              <a:rPr lang="en-US" sz="1100" b="1" spc="150" kern="0" dirty="0">
                <a:solidFill>
                  <a:srgbClr val="CADCFC"/>
                </a:solidFill>
                <a:latin typeface="Calibri" pitchFamily="34" charset="0"/>
                <a:ea typeface="Calibri" pitchFamily="34" charset="-122"/>
                <a:cs typeface="Calibri" pitchFamily="34" charset="-120"/>
              </a:rPr>
              <a:t>THE QUESTION THIS PROJECT ASKS</a:t>
            </a:r>
            <a:endParaRPr lang="en-US" sz="1100" dirty="0"/>
          </a:p>
        </p:txBody>
      </p:sp>
      <p:sp>
        <p:nvSpPr>
          <p:cNvPr id="15" name="Text 12"/>
          <p:cNvSpPr/>
          <p:nvPr/>
        </p:nvSpPr>
        <p:spPr>
          <a:xfrm>
            <a:off x="7452360" y="2377440"/>
            <a:ext cx="3931920" cy="1463040"/>
          </a:xfrm>
          <a:prstGeom prst="rect">
            <a:avLst/>
          </a:prstGeom>
          <a:noFill/>
          <a:ln/>
        </p:spPr>
        <p:txBody>
          <a:bodyPr wrap="square" lIns="0" tIns="0" rIns="0" bIns="0" rtlCol="0" anchor="ctr"/>
          <a:lstStyle/>
          <a:p>
            <a:pPr indent="0" marL="0">
              <a:lnSpc>
                <a:spcPct val="120000"/>
              </a:lnSpc>
              <a:buNone/>
            </a:pPr>
            <a:r>
              <a:rPr lang="en-US" sz="2000" b="1" dirty="0">
                <a:solidFill>
                  <a:srgbClr val="FFFFFF"/>
                </a:solidFill>
                <a:latin typeface="Cambria" pitchFamily="34" charset="0"/>
                <a:ea typeface="Cambria" pitchFamily="34" charset="-122"/>
                <a:cs typeface="Cambria" pitchFamily="34" charset="-120"/>
              </a:rPr>
              <a:t>Is domain shift an unexplained black box—or a specific, testable mechanism?</a:t>
            </a:r>
            <a:endParaRPr lang="en-US" sz="2000" dirty="0"/>
          </a:p>
        </p:txBody>
      </p:sp>
      <p:sp>
        <p:nvSpPr>
          <p:cNvPr id="16" name="Text 13"/>
          <p:cNvSpPr/>
          <p:nvPr/>
        </p:nvSpPr>
        <p:spPr>
          <a:xfrm>
            <a:off x="7452360" y="4023360"/>
            <a:ext cx="3931920" cy="2011680"/>
          </a:xfrm>
          <a:prstGeom prst="rect">
            <a:avLst/>
          </a:prstGeom>
          <a:noFill/>
          <a:ln/>
        </p:spPr>
        <p:txBody>
          <a:bodyPr wrap="square" lIns="0" tIns="0" rIns="0" bIns="0"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This audit trains three architectures on one pediatric hospital's data, tests them—without retraining—on two independent adult sites, and measures whether shortcut reliance tracks a specific, quantifiable cause.</a:t>
            </a:r>
            <a:endParaRPr lang="en-US" sz="1250" dirty="0"/>
          </a:p>
        </p:txBody>
      </p:sp>
      <p:sp>
        <p:nvSpPr>
          <p:cNvPr id="17" name="Text 14"/>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RESEARCH QUESTIONS</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Five questions, one thread</a:t>
            </a:r>
            <a:endParaRPr lang="en-US" sz="3000" dirty="0"/>
          </a:p>
        </p:txBody>
      </p:sp>
      <p:sp>
        <p:nvSpPr>
          <p:cNvPr id="6" name="Shape 3"/>
          <p:cNvSpPr/>
          <p:nvPr/>
        </p:nvSpPr>
        <p:spPr>
          <a:xfrm>
            <a:off x="548640" y="1783080"/>
            <a:ext cx="502920" cy="502920"/>
          </a:xfrm>
          <a:prstGeom prst="ellipse">
            <a:avLst/>
          </a:prstGeom>
          <a:solidFill>
            <a:srgbClr val="1E2761"/>
          </a:solidFill>
          <a:ln/>
        </p:spPr>
      </p:sp>
      <p:sp>
        <p:nvSpPr>
          <p:cNvPr id="7" name="Text 4"/>
          <p:cNvSpPr/>
          <p:nvPr/>
        </p:nvSpPr>
        <p:spPr>
          <a:xfrm>
            <a:off x="548640"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1234440" y="1810512"/>
            <a:ext cx="10241280" cy="640080"/>
          </a:xfrm>
          <a:prstGeom prst="rect">
            <a:avLst/>
          </a:prstGeom>
          <a:noFill/>
          <a:ln/>
        </p:spPr>
        <p:txBody>
          <a:bodyPr wrap="square" lIns="0" tIns="0" rIns="0" bIns="0" rtlCol="0" anchor="ctr"/>
          <a:lstStyle/>
          <a:p>
            <a:pPr indent="0" marL="0">
              <a:lnSpc>
                <a:spcPct val="115000"/>
              </a:lnSpc>
              <a:buNone/>
            </a:pPr>
            <a:r>
              <a:rPr lang="en-US" sz="1500" dirty="0">
                <a:solidFill>
                  <a:srgbClr val="1A1A2E"/>
                </a:solidFill>
                <a:latin typeface="Calibri" pitchFamily="34" charset="0"/>
                <a:ea typeface="Calibri" pitchFamily="34" charset="-122"/>
                <a:cs typeface="Calibri" pitchFamily="34" charset="-120"/>
              </a:rPr>
              <a:t>How accurately do CNN architectures detect pneumonia, and what drives misclassification?</a:t>
            </a:r>
            <a:endParaRPr lang="en-US" sz="1500" dirty="0"/>
          </a:p>
        </p:txBody>
      </p:sp>
      <p:sp>
        <p:nvSpPr>
          <p:cNvPr id="9" name="Shape 6"/>
          <p:cNvSpPr/>
          <p:nvPr/>
        </p:nvSpPr>
        <p:spPr>
          <a:xfrm>
            <a:off x="548640" y="2679192"/>
            <a:ext cx="502920" cy="502920"/>
          </a:xfrm>
          <a:prstGeom prst="ellipse">
            <a:avLst/>
          </a:prstGeom>
          <a:solidFill>
            <a:srgbClr val="1E2761"/>
          </a:solidFill>
          <a:ln/>
        </p:spPr>
      </p:sp>
      <p:sp>
        <p:nvSpPr>
          <p:cNvPr id="10" name="Text 7"/>
          <p:cNvSpPr/>
          <p:nvPr/>
        </p:nvSpPr>
        <p:spPr>
          <a:xfrm>
            <a:off x="548640" y="26791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1234440" y="2706624"/>
            <a:ext cx="10241280" cy="640080"/>
          </a:xfrm>
          <a:prstGeom prst="rect">
            <a:avLst/>
          </a:prstGeom>
          <a:noFill/>
          <a:ln/>
        </p:spPr>
        <p:txBody>
          <a:bodyPr wrap="square" lIns="0" tIns="0" rIns="0" bIns="0" rtlCol="0" anchor="ctr"/>
          <a:lstStyle/>
          <a:p>
            <a:pPr indent="0" marL="0">
              <a:lnSpc>
                <a:spcPct val="115000"/>
              </a:lnSpc>
              <a:buNone/>
            </a:pPr>
            <a:r>
              <a:rPr lang="en-US" sz="1500" dirty="0">
                <a:solidFill>
                  <a:srgbClr val="1A1A2E"/>
                </a:solidFill>
                <a:latin typeface="Calibri" pitchFamily="34" charset="0"/>
                <a:ea typeface="Calibri" pitchFamily="34" charset="-122"/>
                <a:cs typeface="Calibri" pitchFamily="34" charset="-120"/>
              </a:rPr>
              <a:t>How does performance degrade under domain shift across two independent external sites?</a:t>
            </a:r>
            <a:endParaRPr lang="en-US" sz="1500" dirty="0"/>
          </a:p>
        </p:txBody>
      </p:sp>
      <p:sp>
        <p:nvSpPr>
          <p:cNvPr id="12" name="Shape 9"/>
          <p:cNvSpPr/>
          <p:nvPr/>
        </p:nvSpPr>
        <p:spPr>
          <a:xfrm>
            <a:off x="548640" y="3575304"/>
            <a:ext cx="502920" cy="502920"/>
          </a:xfrm>
          <a:prstGeom prst="ellipse">
            <a:avLst/>
          </a:prstGeom>
          <a:solidFill>
            <a:srgbClr val="1E2761"/>
          </a:solidFill>
          <a:ln/>
        </p:spPr>
      </p:sp>
      <p:sp>
        <p:nvSpPr>
          <p:cNvPr id="13" name="Text 10"/>
          <p:cNvSpPr/>
          <p:nvPr/>
        </p:nvSpPr>
        <p:spPr>
          <a:xfrm>
            <a:off x="548640" y="35753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1"/>
          <p:cNvSpPr/>
          <p:nvPr/>
        </p:nvSpPr>
        <p:spPr>
          <a:xfrm>
            <a:off x="1234440" y="3602736"/>
            <a:ext cx="10241280" cy="640080"/>
          </a:xfrm>
          <a:prstGeom prst="rect">
            <a:avLst/>
          </a:prstGeom>
          <a:noFill/>
          <a:ln/>
        </p:spPr>
        <p:txBody>
          <a:bodyPr wrap="square" lIns="0" tIns="0" rIns="0" bIns="0" rtlCol="0" anchor="ctr"/>
          <a:lstStyle/>
          <a:p>
            <a:pPr indent="0" marL="0">
              <a:lnSpc>
                <a:spcPct val="115000"/>
              </a:lnSpc>
              <a:buNone/>
            </a:pPr>
            <a:r>
              <a:rPr lang="en-US" sz="1500" dirty="0">
                <a:solidFill>
                  <a:srgbClr val="1A1A2E"/>
                </a:solidFill>
                <a:latin typeface="Calibri" pitchFamily="34" charset="0"/>
                <a:ea typeface="Calibri" pitchFamily="34" charset="-122"/>
                <a:cs typeface="Calibri" pitchFamily="34" charset="-120"/>
              </a:rPr>
              <a:t>Do a custom CNN, ResNet-50, and DenseNet-121 differ meaningfully in generalization?</a:t>
            </a:r>
            <a:endParaRPr lang="en-US" sz="1500" dirty="0"/>
          </a:p>
        </p:txBody>
      </p:sp>
      <p:sp>
        <p:nvSpPr>
          <p:cNvPr id="15" name="Shape 12"/>
          <p:cNvSpPr/>
          <p:nvPr/>
        </p:nvSpPr>
        <p:spPr>
          <a:xfrm>
            <a:off x="548640" y="4471416"/>
            <a:ext cx="502920" cy="502920"/>
          </a:xfrm>
          <a:prstGeom prst="ellipse">
            <a:avLst/>
          </a:prstGeom>
          <a:solidFill>
            <a:srgbClr val="1E2761"/>
          </a:solidFill>
          <a:ln/>
        </p:spPr>
      </p:sp>
      <p:sp>
        <p:nvSpPr>
          <p:cNvPr id="16" name="Text 13"/>
          <p:cNvSpPr/>
          <p:nvPr/>
        </p:nvSpPr>
        <p:spPr>
          <a:xfrm>
            <a:off x="548640" y="44714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4"/>
          <p:cNvSpPr/>
          <p:nvPr/>
        </p:nvSpPr>
        <p:spPr>
          <a:xfrm>
            <a:off x="1234440" y="4498848"/>
            <a:ext cx="10241280" cy="640080"/>
          </a:xfrm>
          <a:prstGeom prst="rect">
            <a:avLst/>
          </a:prstGeom>
          <a:noFill/>
          <a:ln/>
        </p:spPr>
        <p:txBody>
          <a:bodyPr wrap="square" lIns="0" tIns="0" rIns="0" bIns="0" rtlCol="0" anchor="ctr"/>
          <a:lstStyle/>
          <a:p>
            <a:pPr indent="0" marL="0">
              <a:lnSpc>
                <a:spcPct val="115000"/>
              </a:lnSpc>
              <a:buNone/>
            </a:pPr>
            <a:r>
              <a:rPr lang="en-US" sz="1500" dirty="0">
                <a:solidFill>
                  <a:srgbClr val="1A1A2E"/>
                </a:solidFill>
                <a:latin typeface="Calibri" pitchFamily="34" charset="0"/>
                <a:ea typeface="Calibri" pitchFamily="34" charset="-122"/>
                <a:cs typeface="Calibri" pitchFamily="34" charset="-120"/>
              </a:rPr>
              <a:t>Is the model attending to lung tissue—or exploiting shortcut features, measured quantitatively?</a:t>
            </a:r>
            <a:endParaRPr lang="en-US" sz="1500" dirty="0"/>
          </a:p>
        </p:txBody>
      </p:sp>
      <p:sp>
        <p:nvSpPr>
          <p:cNvPr id="18" name="Shape 15"/>
          <p:cNvSpPr/>
          <p:nvPr/>
        </p:nvSpPr>
        <p:spPr>
          <a:xfrm>
            <a:off x="548640" y="5367528"/>
            <a:ext cx="502920" cy="502920"/>
          </a:xfrm>
          <a:prstGeom prst="ellipse">
            <a:avLst/>
          </a:prstGeom>
          <a:solidFill>
            <a:srgbClr val="C0392B"/>
          </a:solidFill>
          <a:ln/>
        </p:spPr>
      </p:sp>
      <p:sp>
        <p:nvSpPr>
          <p:cNvPr id="19" name="Text 16"/>
          <p:cNvSpPr/>
          <p:nvPr/>
        </p:nvSpPr>
        <p:spPr>
          <a:xfrm>
            <a:off x="548640" y="53675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0" name="Text 17"/>
          <p:cNvSpPr/>
          <p:nvPr/>
        </p:nvSpPr>
        <p:spPr>
          <a:xfrm>
            <a:off x="1234440" y="5394960"/>
            <a:ext cx="10241280" cy="640080"/>
          </a:xfrm>
          <a:prstGeom prst="rect">
            <a:avLst/>
          </a:prstGeom>
          <a:noFill/>
          <a:ln/>
        </p:spPr>
        <p:txBody>
          <a:bodyPr wrap="square" lIns="0" tIns="0" rIns="0" bIns="0" rtlCol="0" anchor="ctr"/>
          <a:lstStyle/>
          <a:p>
            <a:pPr indent="0" marL="0">
              <a:lnSpc>
                <a:spcPct val="115000"/>
              </a:lnSpc>
              <a:buNone/>
            </a:pPr>
            <a:r>
              <a:rPr lang="en-US" sz="1500" dirty="0">
                <a:solidFill>
                  <a:srgbClr val="1A1A2E"/>
                </a:solidFill>
                <a:latin typeface="Calibri" pitchFamily="34" charset="0"/>
                <a:ea typeface="Calibri" pitchFamily="34" charset="-122"/>
                <a:cs typeface="Calibri" pitchFamily="34" charset="-120"/>
              </a:rPr>
              <a:t>Does shortcut reliance track age group specifically, or a more directly measurable proxy?</a:t>
            </a:r>
            <a:endParaRPr lang="en-US" sz="1500" dirty="0"/>
          </a:p>
        </p:txBody>
      </p:sp>
      <p:sp>
        <p:nvSpPr>
          <p:cNvPr id="21" name="Text 1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DATA &amp; LABEL HARMONIZATION</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Three institutions, one binary label, no shared schema</a:t>
            </a:r>
            <a:endParaRPr lang="en-US" sz="3000" dirty="0"/>
          </a:p>
        </p:txBody>
      </p:sp>
      <p:sp>
        <p:nvSpPr>
          <p:cNvPr id="6" name="Shape 3"/>
          <p:cNvSpPr/>
          <p:nvPr/>
        </p:nvSpPr>
        <p:spPr>
          <a:xfrm>
            <a:off x="548640" y="1737360"/>
            <a:ext cx="3611880" cy="2468880"/>
          </a:xfrm>
          <a:prstGeom prst="roundRect">
            <a:avLst>
              <a:gd name="adj" fmla="val 2963"/>
            </a:avLst>
          </a:prstGeom>
          <a:solidFill>
            <a:srgbClr val="1E2761"/>
          </a:solidFill>
          <a:ln/>
        </p:spPr>
      </p:sp>
      <p:sp>
        <p:nvSpPr>
          <p:cNvPr id="7" name="Text 4"/>
          <p:cNvSpPr/>
          <p:nvPr/>
        </p:nvSpPr>
        <p:spPr>
          <a:xfrm>
            <a:off x="822960" y="1965960"/>
            <a:ext cx="3063240" cy="274320"/>
          </a:xfrm>
          <a:prstGeom prst="rect">
            <a:avLst/>
          </a:prstGeom>
          <a:noFill/>
          <a:ln/>
        </p:spPr>
        <p:txBody>
          <a:bodyPr wrap="square" lIns="0" tIns="0" rIns="0" bIns="0" rtlCol="0" anchor="ctr"/>
          <a:lstStyle/>
          <a:p>
            <a:pPr indent="0" marL="0">
              <a:buNone/>
            </a:pPr>
            <a:r>
              <a:rPr lang="en-US" sz="1000" b="1" spc="120" kern="0" dirty="0">
                <a:solidFill>
                  <a:srgbClr val="CADCFC"/>
                </a:solidFill>
                <a:latin typeface="Calibri" pitchFamily="34" charset="0"/>
                <a:ea typeface="Calibri" pitchFamily="34" charset="-122"/>
                <a:cs typeface="Calibri" pitchFamily="34" charset="-120"/>
              </a:rPr>
              <a:t>TRAINING</a:t>
            </a:r>
            <a:endParaRPr lang="en-US" sz="1000" dirty="0"/>
          </a:p>
        </p:txBody>
      </p:sp>
      <p:sp>
        <p:nvSpPr>
          <p:cNvPr id="8" name="Text 5"/>
          <p:cNvSpPr/>
          <p:nvPr/>
        </p:nvSpPr>
        <p:spPr>
          <a:xfrm>
            <a:off x="822960" y="2240280"/>
            <a:ext cx="306324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Kaggle</a:t>
            </a:r>
            <a:endParaRPr lang="en-US" sz="1800" dirty="0"/>
          </a:p>
        </p:txBody>
      </p:sp>
      <p:sp>
        <p:nvSpPr>
          <p:cNvPr id="9" name="Text 6"/>
          <p:cNvSpPr/>
          <p:nvPr/>
        </p:nvSpPr>
        <p:spPr>
          <a:xfrm>
            <a:off x="822960" y="2670048"/>
            <a:ext cx="3063240" cy="502920"/>
          </a:xfrm>
          <a:prstGeom prst="rect">
            <a:avLst/>
          </a:prstGeom>
          <a:noFill/>
          <a:ln/>
        </p:spPr>
        <p:txBody>
          <a:bodyPr wrap="square" lIns="0" tIns="0" rIns="0" bIns="0" rtlCol="0" anchor="ctr"/>
          <a:lstStyle/>
          <a:p>
            <a:pPr indent="0" marL="0">
              <a:lnSpc>
                <a:spcPct val="115000"/>
              </a:lnSpc>
              <a:buNone/>
            </a:pPr>
            <a:r>
              <a:rPr lang="en-US" sz="1050" dirty="0">
                <a:solidFill>
                  <a:srgbClr val="CADCFC"/>
                </a:solidFill>
                <a:latin typeface="Calibri" pitchFamily="34" charset="0"/>
                <a:ea typeface="Calibri" pitchFamily="34" charset="-122"/>
                <a:cs typeface="Calibri" pitchFamily="34" charset="-120"/>
              </a:rPr>
              <a:t>Guangzhou Women &amp; Children's — pediatric</a:t>
            </a:r>
            <a:endParaRPr lang="en-US" sz="1050" dirty="0"/>
          </a:p>
        </p:txBody>
      </p:sp>
      <p:sp>
        <p:nvSpPr>
          <p:cNvPr id="10" name="Text 7"/>
          <p:cNvSpPr/>
          <p:nvPr/>
        </p:nvSpPr>
        <p:spPr>
          <a:xfrm>
            <a:off x="822960" y="3218688"/>
            <a:ext cx="306324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5,856</a:t>
            </a:r>
            <a:endParaRPr lang="en-US" sz="2600" dirty="0"/>
          </a:p>
        </p:txBody>
      </p:sp>
      <p:sp>
        <p:nvSpPr>
          <p:cNvPr id="11" name="Text 8"/>
          <p:cNvSpPr/>
          <p:nvPr/>
        </p:nvSpPr>
        <p:spPr>
          <a:xfrm>
            <a:off x="822960" y="3685032"/>
            <a:ext cx="3063240" cy="22860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usable images</a:t>
            </a:r>
            <a:endParaRPr lang="en-US" sz="950" dirty="0"/>
          </a:p>
        </p:txBody>
      </p:sp>
      <p:sp>
        <p:nvSpPr>
          <p:cNvPr id="12" name="Text 9"/>
          <p:cNvSpPr/>
          <p:nvPr/>
        </p:nvSpPr>
        <p:spPr>
          <a:xfrm>
            <a:off x="822960" y="3895344"/>
            <a:ext cx="3063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73%</a:t>
            </a:r>
            <a:pPr indent="0" marL="0">
              <a:buNone/>
            </a:pPr>
            <a:r>
              <a:rPr lang="en-US" sz="950" dirty="0">
                <a:solidFill>
                  <a:srgbClr val="CADCFC"/>
                </a:solidFill>
                <a:latin typeface="Calibri" pitchFamily="34" charset="0"/>
                <a:ea typeface="Calibri" pitchFamily="34" charset="-122"/>
                <a:cs typeface="Calibri" pitchFamily="34" charset="-120"/>
              </a:rPr>
              <a:t>  pneumonia-positive</a:t>
            </a:r>
            <a:endParaRPr lang="en-US" sz="1300" dirty="0"/>
          </a:p>
        </p:txBody>
      </p:sp>
      <p:sp>
        <p:nvSpPr>
          <p:cNvPr id="13" name="Shape 10"/>
          <p:cNvSpPr/>
          <p:nvPr/>
        </p:nvSpPr>
        <p:spPr>
          <a:xfrm>
            <a:off x="4434840" y="1737360"/>
            <a:ext cx="3611880" cy="2468880"/>
          </a:xfrm>
          <a:prstGeom prst="roundRect">
            <a:avLst>
              <a:gd name="adj" fmla="val 2963"/>
            </a:avLst>
          </a:prstGeom>
          <a:solidFill>
            <a:srgbClr val="F4F6FB"/>
          </a:solidFill>
          <a:ln/>
        </p:spPr>
      </p:sp>
      <p:sp>
        <p:nvSpPr>
          <p:cNvPr id="14" name="Text 11"/>
          <p:cNvSpPr/>
          <p:nvPr/>
        </p:nvSpPr>
        <p:spPr>
          <a:xfrm>
            <a:off x="4709160" y="1965960"/>
            <a:ext cx="3063240" cy="274320"/>
          </a:xfrm>
          <a:prstGeom prst="rect">
            <a:avLst/>
          </a:prstGeom>
          <a:noFill/>
          <a:ln/>
        </p:spPr>
        <p:txBody>
          <a:bodyPr wrap="square" lIns="0" tIns="0" rIns="0" bIns="0" rtlCol="0" anchor="ctr"/>
          <a:lstStyle/>
          <a:p>
            <a:pPr indent="0" marL="0">
              <a:buNone/>
            </a:pPr>
            <a:r>
              <a:rPr lang="en-US" sz="1000" b="1" spc="120" kern="0" dirty="0">
                <a:solidFill>
                  <a:srgbClr val="1E2761"/>
                </a:solidFill>
                <a:latin typeface="Calibri" pitchFamily="34" charset="0"/>
                <a:ea typeface="Calibri" pitchFamily="34" charset="-122"/>
                <a:cs typeface="Calibri" pitchFamily="34" charset="-120"/>
              </a:rPr>
              <a:t>EXTERNAL VALIDATION</a:t>
            </a:r>
            <a:endParaRPr lang="en-US" sz="1000" dirty="0"/>
          </a:p>
        </p:txBody>
      </p:sp>
      <p:sp>
        <p:nvSpPr>
          <p:cNvPr id="15" name="Text 12"/>
          <p:cNvSpPr/>
          <p:nvPr/>
        </p:nvSpPr>
        <p:spPr>
          <a:xfrm>
            <a:off x="4709160" y="2240280"/>
            <a:ext cx="30632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NIH ChestX-ray14</a:t>
            </a:r>
            <a:endParaRPr lang="en-US" sz="1800" dirty="0"/>
          </a:p>
        </p:txBody>
      </p:sp>
      <p:sp>
        <p:nvSpPr>
          <p:cNvPr id="16" name="Text 13"/>
          <p:cNvSpPr/>
          <p:nvPr/>
        </p:nvSpPr>
        <p:spPr>
          <a:xfrm>
            <a:off x="4709160" y="2670048"/>
            <a:ext cx="3063240" cy="50292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Second institution — adult</a:t>
            </a:r>
            <a:endParaRPr lang="en-US" sz="1050" dirty="0"/>
          </a:p>
        </p:txBody>
      </p:sp>
      <p:sp>
        <p:nvSpPr>
          <p:cNvPr id="17" name="Text 14"/>
          <p:cNvSpPr/>
          <p:nvPr/>
        </p:nvSpPr>
        <p:spPr>
          <a:xfrm>
            <a:off x="4709160" y="3218688"/>
            <a:ext cx="3063240" cy="50292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61,792</a:t>
            </a:r>
            <a:endParaRPr lang="en-US" sz="2600" dirty="0"/>
          </a:p>
        </p:txBody>
      </p:sp>
      <p:sp>
        <p:nvSpPr>
          <p:cNvPr id="18" name="Text 15"/>
          <p:cNvSpPr/>
          <p:nvPr/>
        </p:nvSpPr>
        <p:spPr>
          <a:xfrm>
            <a:off x="4709160" y="3685032"/>
            <a:ext cx="3063240" cy="22860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usable images</a:t>
            </a:r>
            <a:endParaRPr lang="en-US" sz="950" dirty="0"/>
          </a:p>
        </p:txBody>
      </p:sp>
      <p:sp>
        <p:nvSpPr>
          <p:cNvPr id="19" name="Text 16"/>
          <p:cNvSpPr/>
          <p:nvPr/>
        </p:nvSpPr>
        <p:spPr>
          <a:xfrm>
            <a:off x="4709160" y="3895344"/>
            <a:ext cx="3063240" cy="27432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2.3%</a:t>
            </a:r>
            <a:pPr indent="0" marL="0">
              <a:buNone/>
            </a:pPr>
            <a:r>
              <a:rPr lang="en-US" sz="950" dirty="0">
                <a:solidFill>
                  <a:srgbClr val="6B7280"/>
                </a:solidFill>
                <a:latin typeface="Calibri" pitchFamily="34" charset="0"/>
                <a:ea typeface="Calibri" pitchFamily="34" charset="-122"/>
                <a:cs typeface="Calibri" pitchFamily="34" charset="-120"/>
              </a:rPr>
              <a:t>  pneumonia-positive</a:t>
            </a:r>
            <a:endParaRPr lang="en-US" sz="1300" dirty="0"/>
          </a:p>
        </p:txBody>
      </p:sp>
      <p:sp>
        <p:nvSpPr>
          <p:cNvPr id="20" name="Shape 17"/>
          <p:cNvSpPr/>
          <p:nvPr/>
        </p:nvSpPr>
        <p:spPr>
          <a:xfrm>
            <a:off x="8321040" y="1737360"/>
            <a:ext cx="3611880" cy="2468880"/>
          </a:xfrm>
          <a:prstGeom prst="roundRect">
            <a:avLst>
              <a:gd name="adj" fmla="val 2963"/>
            </a:avLst>
          </a:prstGeom>
          <a:solidFill>
            <a:srgbClr val="F4F6FB"/>
          </a:solidFill>
          <a:ln/>
        </p:spPr>
      </p:sp>
      <p:sp>
        <p:nvSpPr>
          <p:cNvPr id="21" name="Text 18"/>
          <p:cNvSpPr/>
          <p:nvPr/>
        </p:nvSpPr>
        <p:spPr>
          <a:xfrm>
            <a:off x="8595360" y="1965960"/>
            <a:ext cx="3063240" cy="274320"/>
          </a:xfrm>
          <a:prstGeom prst="rect">
            <a:avLst/>
          </a:prstGeom>
          <a:noFill/>
          <a:ln/>
        </p:spPr>
        <p:txBody>
          <a:bodyPr wrap="square" lIns="0" tIns="0" rIns="0" bIns="0" rtlCol="0" anchor="ctr"/>
          <a:lstStyle/>
          <a:p>
            <a:pPr indent="0" marL="0">
              <a:buNone/>
            </a:pPr>
            <a:r>
              <a:rPr lang="en-US" sz="1000" b="1" spc="120" kern="0" dirty="0">
                <a:solidFill>
                  <a:srgbClr val="1E2761"/>
                </a:solidFill>
                <a:latin typeface="Calibri" pitchFamily="34" charset="0"/>
                <a:ea typeface="Calibri" pitchFamily="34" charset="-122"/>
                <a:cs typeface="Calibri" pitchFamily="34" charset="-120"/>
              </a:rPr>
              <a:t>EXTERNAL VALIDATION</a:t>
            </a:r>
            <a:endParaRPr lang="en-US" sz="1000" dirty="0"/>
          </a:p>
        </p:txBody>
      </p:sp>
      <p:sp>
        <p:nvSpPr>
          <p:cNvPr id="22" name="Text 19"/>
          <p:cNvSpPr/>
          <p:nvPr/>
        </p:nvSpPr>
        <p:spPr>
          <a:xfrm>
            <a:off x="8595360" y="2240280"/>
            <a:ext cx="3063240" cy="457200"/>
          </a:xfrm>
          <a:prstGeom prst="rect">
            <a:avLst/>
          </a:prstGeom>
          <a:noFill/>
          <a:ln/>
        </p:spPr>
        <p:txBody>
          <a:bodyPr wrap="square" lIns="0" tIns="0" rIns="0" bIns="0" rtlCol="0" anchor="ctr"/>
          <a:lstStyle/>
          <a:p>
            <a:pPr indent="0" marL="0">
              <a:buNone/>
            </a:pPr>
            <a:r>
              <a:rPr lang="en-US" sz="1800" b="1" dirty="0">
                <a:solidFill>
                  <a:srgbClr val="1A1A2E"/>
                </a:solidFill>
                <a:latin typeface="Cambria" pitchFamily="34" charset="0"/>
                <a:ea typeface="Cambria" pitchFamily="34" charset="-122"/>
                <a:cs typeface="Cambria" pitchFamily="34" charset="-120"/>
              </a:rPr>
              <a:t>Indiana Univ. / OpenI</a:t>
            </a:r>
            <a:endParaRPr lang="en-US" sz="1800" dirty="0"/>
          </a:p>
        </p:txBody>
      </p:sp>
      <p:sp>
        <p:nvSpPr>
          <p:cNvPr id="23" name="Text 20"/>
          <p:cNvSpPr/>
          <p:nvPr/>
        </p:nvSpPr>
        <p:spPr>
          <a:xfrm>
            <a:off x="8595360" y="2670048"/>
            <a:ext cx="3063240" cy="50292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Calibri" pitchFamily="34" charset="0"/>
                <a:ea typeface="Calibri" pitchFamily="34" charset="-122"/>
                <a:cs typeface="Calibri" pitchFamily="34" charset="-120"/>
              </a:rPr>
              <a:t>Third institution — adult, public</a:t>
            </a:r>
            <a:endParaRPr lang="en-US" sz="1050" dirty="0"/>
          </a:p>
        </p:txBody>
      </p:sp>
      <p:sp>
        <p:nvSpPr>
          <p:cNvPr id="24" name="Text 21"/>
          <p:cNvSpPr/>
          <p:nvPr/>
        </p:nvSpPr>
        <p:spPr>
          <a:xfrm>
            <a:off x="8595360" y="3218688"/>
            <a:ext cx="3063240" cy="502920"/>
          </a:xfrm>
          <a:prstGeom prst="rect">
            <a:avLst/>
          </a:prstGeom>
          <a:noFill/>
          <a:ln/>
        </p:spPr>
        <p:txBody>
          <a:bodyPr wrap="square" lIns="0" tIns="0" rIns="0" bIns="0"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2,854</a:t>
            </a:r>
            <a:endParaRPr lang="en-US" sz="2600" dirty="0"/>
          </a:p>
        </p:txBody>
      </p:sp>
      <p:sp>
        <p:nvSpPr>
          <p:cNvPr id="25" name="Text 22"/>
          <p:cNvSpPr/>
          <p:nvPr/>
        </p:nvSpPr>
        <p:spPr>
          <a:xfrm>
            <a:off x="8595360" y="3685032"/>
            <a:ext cx="3063240" cy="22860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usable images</a:t>
            </a:r>
            <a:endParaRPr lang="en-US" sz="950" dirty="0"/>
          </a:p>
        </p:txBody>
      </p:sp>
      <p:sp>
        <p:nvSpPr>
          <p:cNvPr id="26" name="Text 23"/>
          <p:cNvSpPr/>
          <p:nvPr/>
        </p:nvSpPr>
        <p:spPr>
          <a:xfrm>
            <a:off x="8595360" y="3895344"/>
            <a:ext cx="3063240" cy="27432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5.5%</a:t>
            </a:r>
            <a:pPr indent="0" marL="0">
              <a:buNone/>
            </a:pPr>
            <a:r>
              <a:rPr lang="en-US" sz="950" dirty="0">
                <a:solidFill>
                  <a:srgbClr val="6B7280"/>
                </a:solidFill>
                <a:latin typeface="Calibri" pitchFamily="34" charset="0"/>
                <a:ea typeface="Calibri" pitchFamily="34" charset="-122"/>
                <a:cs typeface="Calibri" pitchFamily="34" charset="-120"/>
              </a:rPr>
              <a:t>  pneumonia-positive</a:t>
            </a:r>
            <a:endParaRPr lang="en-US" sz="1300" dirty="0"/>
          </a:p>
        </p:txBody>
      </p:sp>
      <p:sp>
        <p:nvSpPr>
          <p:cNvPr id="27" name="Text 24"/>
          <p:cNvSpPr/>
          <p:nvPr/>
        </p:nvSpPr>
        <p:spPr>
          <a:xfrm>
            <a:off x="548640" y="4526280"/>
            <a:ext cx="11064240" cy="457200"/>
          </a:xfrm>
          <a:prstGeom prst="rect">
            <a:avLst/>
          </a:prstGeom>
          <a:noFill/>
          <a:ln/>
        </p:spPr>
        <p:txBody>
          <a:bodyPr wrap="square" lIns="0" tIns="0" rIns="0" bIns="0" rtlCol="0" anchor="ctr"/>
          <a:lstStyle/>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Patient-level split (not image-level): </a:t>
            </a:r>
            <a:pPr indent="0" marL="0">
              <a:lnSpc>
                <a:spcPct val="120000"/>
              </a:lnSpc>
              <a:buNone/>
            </a:pPr>
            <a:r>
              <a:rPr lang="en-US" sz="1250" dirty="0">
                <a:solidFill>
                  <a:srgbClr val="1A1A2E"/>
                </a:solidFill>
                <a:latin typeface="Calibri" pitchFamily="34" charset="0"/>
                <a:ea typeface="Calibri" pitchFamily="34" charset="-122"/>
                <a:cs typeface="Calibri" pitchFamily="34" charset="-120"/>
              </a:rPr>
              <a:t>Kaggle patient IDs parsed from filenames, re-split 4,416 / 560 / 880 with zero patient overlap across train/val/test — verified, not assumed.</a:t>
            </a:r>
            <a:endParaRPr lang="en-US" sz="1250" dirty="0"/>
          </a:p>
        </p:txBody>
      </p:sp>
      <p:sp>
        <p:nvSpPr>
          <p:cNvPr id="28" name="Text 25"/>
          <p:cNvSpPr/>
          <p:nvPr/>
        </p:nvSpPr>
        <p:spPr>
          <a:xfrm>
            <a:off x="548640" y="5029200"/>
            <a:ext cx="11064240" cy="640080"/>
          </a:xfrm>
          <a:prstGeom prst="rect">
            <a:avLst/>
          </a:prstGeom>
          <a:noFill/>
          <a:ln/>
        </p:spPr>
        <p:txBody>
          <a:bodyPr wrap="square" lIns="0" tIns="0" rIns="0" bIns="0" rtlCol="0" anchor="ctr"/>
          <a:lstStyle/>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Harmonization rule (NIH &amp; OpenI): </a:t>
            </a:r>
            <a:pPr indent="0" marL="0">
              <a:lnSpc>
                <a:spcPct val="120000"/>
              </a:lnSpc>
              <a:buNone/>
            </a:pPr>
            <a:r>
              <a:rPr lang="en-US" sz="1250" dirty="0">
                <a:solidFill>
                  <a:srgbClr val="1A1A2E"/>
                </a:solidFill>
                <a:latin typeface="Calibri" pitchFamily="34" charset="0"/>
                <a:ea typeface="Calibri" pitchFamily="34" charset="-122"/>
                <a:cs typeface="Calibri" pitchFamily="34" charset="-120"/>
              </a:rPr>
              <a:t>label = 1 if “pneumonia” is present; label = 0 only if the record is explicitly “normal” / “no finding.” Anything else is an ambiguous negative — excluded, not guessed.</a:t>
            </a:r>
            <a:endParaRPr lang="en-US" sz="1250" dirty="0"/>
          </a:p>
        </p:txBody>
      </p:sp>
      <p:sp>
        <p:nvSpPr>
          <p:cNvPr id="29" name="Text 26"/>
          <p:cNvSpPr/>
          <p:nvPr/>
        </p:nvSpPr>
        <p:spPr>
          <a:xfrm>
            <a:off x="548640" y="5806440"/>
            <a:ext cx="11064240" cy="45720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CheXpert (gated, no fixed access timeline) and VinDr-CXR (142GB; its competition packaging has no Pneumonia label) were both investigated and ruled out before settling on OpenI.</a:t>
            </a:r>
            <a:endParaRPr lang="en-US" sz="1100" dirty="0"/>
          </a:p>
        </p:txBody>
      </p:sp>
      <p:sp>
        <p:nvSpPr>
          <p:cNvPr id="30" name="Text 27"/>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EXPERIMENTAL DESIGN</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Three architectures, one evaluation pipeline</a:t>
            </a:r>
            <a:endParaRPr lang="en-US" sz="3000" dirty="0"/>
          </a:p>
        </p:txBody>
      </p:sp>
      <p:sp>
        <p:nvSpPr>
          <p:cNvPr id="6" name="Shape 3"/>
          <p:cNvSpPr/>
          <p:nvPr/>
        </p:nvSpPr>
        <p:spPr>
          <a:xfrm>
            <a:off x="548640" y="1737360"/>
            <a:ext cx="3611880" cy="1371600"/>
          </a:xfrm>
          <a:prstGeom prst="roundRect">
            <a:avLst>
              <a:gd name="adj" fmla="val 5333"/>
            </a:avLst>
          </a:prstGeom>
          <a:solidFill>
            <a:srgbClr val="F4F6FB"/>
          </a:solidFill>
          <a:ln/>
        </p:spPr>
      </p:sp>
      <p:sp>
        <p:nvSpPr>
          <p:cNvPr id="7" name="Text 4"/>
          <p:cNvSpPr/>
          <p:nvPr/>
        </p:nvSpPr>
        <p:spPr>
          <a:xfrm>
            <a:off x="777240" y="1901952"/>
            <a:ext cx="31546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Baseline CNN</a:t>
            </a:r>
            <a:endParaRPr lang="en-US" sz="1600" dirty="0"/>
          </a:p>
        </p:txBody>
      </p:sp>
      <p:sp>
        <p:nvSpPr>
          <p:cNvPr id="8" name="Text 5"/>
          <p:cNvSpPr/>
          <p:nvPr/>
        </p:nvSpPr>
        <p:spPr>
          <a:xfrm>
            <a:off x="777240" y="2304288"/>
            <a:ext cx="315468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From scratch · 4 conv blocks · 20 epochs</a:t>
            </a:r>
            <a:endParaRPr lang="en-US" sz="1050" dirty="0"/>
          </a:p>
        </p:txBody>
      </p:sp>
      <p:sp>
        <p:nvSpPr>
          <p:cNvPr id="9" name="Text 6"/>
          <p:cNvSpPr/>
          <p:nvPr/>
        </p:nvSpPr>
        <p:spPr>
          <a:xfrm>
            <a:off x="777240" y="2697480"/>
            <a:ext cx="3154680" cy="320040"/>
          </a:xfrm>
          <a:prstGeom prst="rect">
            <a:avLst/>
          </a:prstGeom>
          <a:noFill/>
          <a:ln/>
        </p:spPr>
        <p:txBody>
          <a:bodyPr wrap="square" lIns="0" tIns="0" rIns="0" bIns="0" rtlCol="0" anchor="ctr"/>
          <a:lstStyle/>
          <a:p>
            <a:pPr indent="0" marL="0">
              <a:buNone/>
            </a:pPr>
            <a:r>
              <a:rPr lang="en-US" sz="1050" i="1" dirty="0">
                <a:solidFill>
                  <a:srgbClr val="C0392B"/>
                </a:solidFill>
                <a:latin typeface="Calibri" pitchFamily="34" charset="0"/>
                <a:ea typeface="Calibri" pitchFamily="34" charset="-122"/>
                <a:cs typeface="Calibri" pitchFamily="34" charset="-120"/>
              </a:rPr>
              <a:t>Lower-bound benchmark</a:t>
            </a:r>
            <a:endParaRPr lang="en-US" sz="1050" dirty="0"/>
          </a:p>
        </p:txBody>
      </p:sp>
      <p:sp>
        <p:nvSpPr>
          <p:cNvPr id="10" name="Shape 7"/>
          <p:cNvSpPr/>
          <p:nvPr/>
        </p:nvSpPr>
        <p:spPr>
          <a:xfrm>
            <a:off x="4434840" y="1737360"/>
            <a:ext cx="3611880" cy="1371600"/>
          </a:xfrm>
          <a:prstGeom prst="roundRect">
            <a:avLst>
              <a:gd name="adj" fmla="val 5333"/>
            </a:avLst>
          </a:prstGeom>
          <a:solidFill>
            <a:srgbClr val="F4F6FB"/>
          </a:solidFill>
          <a:ln/>
        </p:spPr>
      </p:sp>
      <p:sp>
        <p:nvSpPr>
          <p:cNvPr id="11" name="Text 8"/>
          <p:cNvSpPr/>
          <p:nvPr/>
        </p:nvSpPr>
        <p:spPr>
          <a:xfrm>
            <a:off x="4663440" y="1901952"/>
            <a:ext cx="31546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ResNet-50</a:t>
            </a:r>
            <a:endParaRPr lang="en-US" sz="1600" dirty="0"/>
          </a:p>
        </p:txBody>
      </p:sp>
      <p:sp>
        <p:nvSpPr>
          <p:cNvPr id="12" name="Text 9"/>
          <p:cNvSpPr/>
          <p:nvPr/>
        </p:nvSpPr>
        <p:spPr>
          <a:xfrm>
            <a:off x="4663440" y="2304288"/>
            <a:ext cx="315468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ImageNet-pretrained · fine-tuned · 10 epochs</a:t>
            </a:r>
            <a:endParaRPr lang="en-US" sz="1050" dirty="0"/>
          </a:p>
        </p:txBody>
      </p:sp>
      <p:sp>
        <p:nvSpPr>
          <p:cNvPr id="13" name="Text 10"/>
          <p:cNvSpPr/>
          <p:nvPr/>
        </p:nvSpPr>
        <p:spPr>
          <a:xfrm>
            <a:off x="4663440" y="2697480"/>
            <a:ext cx="3154680" cy="320040"/>
          </a:xfrm>
          <a:prstGeom prst="rect">
            <a:avLst/>
          </a:prstGeom>
          <a:noFill/>
          <a:ln/>
        </p:spPr>
        <p:txBody>
          <a:bodyPr wrap="square" lIns="0" tIns="0" rIns="0" bIns="0" rtlCol="0" anchor="ctr"/>
          <a:lstStyle/>
          <a:p>
            <a:pPr indent="0" marL="0">
              <a:buNone/>
            </a:pPr>
            <a:r>
              <a:rPr lang="en-US" sz="1050" i="1" dirty="0">
                <a:solidFill>
                  <a:srgbClr val="C0392B"/>
                </a:solidFill>
                <a:latin typeface="Calibri" pitchFamily="34" charset="0"/>
                <a:ea typeface="Calibri" pitchFamily="34" charset="-122"/>
                <a:cs typeface="Calibri" pitchFamily="34" charset="-120"/>
              </a:rPr>
              <a:t>Standard transfer baseline</a:t>
            </a:r>
            <a:endParaRPr lang="en-US" sz="1050" dirty="0"/>
          </a:p>
        </p:txBody>
      </p:sp>
      <p:sp>
        <p:nvSpPr>
          <p:cNvPr id="14" name="Shape 11"/>
          <p:cNvSpPr/>
          <p:nvPr/>
        </p:nvSpPr>
        <p:spPr>
          <a:xfrm>
            <a:off x="8321040" y="1737360"/>
            <a:ext cx="3611880" cy="1371600"/>
          </a:xfrm>
          <a:prstGeom prst="roundRect">
            <a:avLst>
              <a:gd name="adj" fmla="val 5333"/>
            </a:avLst>
          </a:prstGeom>
          <a:solidFill>
            <a:srgbClr val="F4F6FB"/>
          </a:solidFill>
          <a:ln/>
        </p:spPr>
      </p:sp>
      <p:sp>
        <p:nvSpPr>
          <p:cNvPr id="15" name="Text 12"/>
          <p:cNvSpPr/>
          <p:nvPr/>
        </p:nvSpPr>
        <p:spPr>
          <a:xfrm>
            <a:off x="8549640" y="1901952"/>
            <a:ext cx="31546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DenseNet-121</a:t>
            </a:r>
            <a:endParaRPr lang="en-US" sz="1600" dirty="0"/>
          </a:p>
        </p:txBody>
      </p:sp>
      <p:sp>
        <p:nvSpPr>
          <p:cNvPr id="16" name="Text 13"/>
          <p:cNvSpPr/>
          <p:nvPr/>
        </p:nvSpPr>
        <p:spPr>
          <a:xfrm>
            <a:off x="8549640" y="2304288"/>
            <a:ext cx="3154680" cy="36576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ImageNet-pretrained · fine-tuned · 10 epochs</a:t>
            </a:r>
            <a:endParaRPr lang="en-US" sz="1050" dirty="0"/>
          </a:p>
        </p:txBody>
      </p:sp>
      <p:sp>
        <p:nvSpPr>
          <p:cNvPr id="17" name="Text 14"/>
          <p:cNvSpPr/>
          <p:nvPr/>
        </p:nvSpPr>
        <p:spPr>
          <a:xfrm>
            <a:off x="8549640" y="2697480"/>
            <a:ext cx="3154680" cy="320040"/>
          </a:xfrm>
          <a:prstGeom prst="rect">
            <a:avLst/>
          </a:prstGeom>
          <a:noFill/>
          <a:ln/>
        </p:spPr>
        <p:txBody>
          <a:bodyPr wrap="square" lIns="0" tIns="0" rIns="0" bIns="0" rtlCol="0" anchor="ctr"/>
          <a:lstStyle/>
          <a:p>
            <a:pPr indent="0" marL="0">
              <a:buNone/>
            </a:pPr>
            <a:r>
              <a:rPr lang="en-US" sz="1050" i="1" dirty="0">
                <a:solidFill>
                  <a:srgbClr val="C0392B"/>
                </a:solidFill>
                <a:latin typeface="Calibri" pitchFamily="34" charset="0"/>
                <a:ea typeface="Calibri" pitchFamily="34" charset="-122"/>
                <a:cs typeface="Calibri" pitchFamily="34" charset="-120"/>
              </a:rPr>
              <a:t>Dense feature reuse</a:t>
            </a:r>
            <a:endParaRPr lang="en-US" sz="1050" dirty="0"/>
          </a:p>
        </p:txBody>
      </p:sp>
      <p:sp>
        <p:nvSpPr>
          <p:cNvPr id="18" name="Text 15"/>
          <p:cNvSpPr/>
          <p:nvPr/>
        </p:nvSpPr>
        <p:spPr>
          <a:xfrm>
            <a:off x="548640" y="3429000"/>
            <a:ext cx="548640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EVALUATION PIPELINE</a:t>
            </a:r>
            <a:endParaRPr lang="en-US" sz="1100" dirty="0"/>
          </a:p>
        </p:txBody>
      </p:sp>
      <p:sp>
        <p:nvSpPr>
          <p:cNvPr id="19" name="Shape 16"/>
          <p:cNvSpPr/>
          <p:nvPr/>
        </p:nvSpPr>
        <p:spPr>
          <a:xfrm>
            <a:off x="548640" y="3794760"/>
            <a:ext cx="292608" cy="292608"/>
          </a:xfrm>
          <a:prstGeom prst="roundRect">
            <a:avLst>
              <a:gd name="adj" fmla="val 15625"/>
            </a:avLst>
          </a:prstGeom>
          <a:solidFill>
            <a:srgbClr val="1E2761"/>
          </a:solidFill>
          <a:ln/>
        </p:spPr>
      </p:sp>
      <p:sp>
        <p:nvSpPr>
          <p:cNvPr id="20" name="Text 17"/>
          <p:cNvSpPr/>
          <p:nvPr/>
        </p:nvSpPr>
        <p:spPr>
          <a:xfrm>
            <a:off x="548640" y="37947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p:nvPr/>
        </p:nvSpPr>
        <p:spPr>
          <a:xfrm>
            <a:off x="1005840" y="3739896"/>
            <a:ext cx="10607040" cy="4114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Bootstrapped 95% CIs + McNemar's exact test for architecture differences</a:t>
            </a:r>
            <a:endParaRPr lang="en-US" sz="1250" dirty="0"/>
          </a:p>
        </p:txBody>
      </p:sp>
      <p:sp>
        <p:nvSpPr>
          <p:cNvPr id="22" name="Shape 19"/>
          <p:cNvSpPr/>
          <p:nvPr/>
        </p:nvSpPr>
        <p:spPr>
          <a:xfrm>
            <a:off x="548640" y="4343400"/>
            <a:ext cx="292608" cy="292608"/>
          </a:xfrm>
          <a:prstGeom prst="roundRect">
            <a:avLst>
              <a:gd name="adj" fmla="val 15625"/>
            </a:avLst>
          </a:prstGeom>
          <a:solidFill>
            <a:srgbClr val="1E2761"/>
          </a:solidFill>
          <a:ln/>
        </p:spPr>
      </p:sp>
      <p:sp>
        <p:nvSpPr>
          <p:cNvPr id="23" name="Text 20"/>
          <p:cNvSpPr/>
          <p:nvPr/>
        </p:nvSpPr>
        <p:spPr>
          <a:xfrm>
            <a:off x="548640" y="4343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1"/>
          <p:cNvSpPr/>
          <p:nvPr/>
        </p:nvSpPr>
        <p:spPr>
          <a:xfrm>
            <a:off x="1005840" y="4288536"/>
            <a:ext cx="10607040" cy="4114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Three-way domain-shift eval (Kaggle → NIH → OpenI), no retraining between sites</a:t>
            </a:r>
            <a:endParaRPr lang="en-US" sz="1250" dirty="0"/>
          </a:p>
        </p:txBody>
      </p:sp>
      <p:sp>
        <p:nvSpPr>
          <p:cNvPr id="25" name="Shape 22"/>
          <p:cNvSpPr/>
          <p:nvPr/>
        </p:nvSpPr>
        <p:spPr>
          <a:xfrm>
            <a:off x="548640" y="4892040"/>
            <a:ext cx="292608" cy="292608"/>
          </a:xfrm>
          <a:prstGeom prst="roundRect">
            <a:avLst>
              <a:gd name="adj" fmla="val 15625"/>
            </a:avLst>
          </a:prstGeom>
          <a:solidFill>
            <a:srgbClr val="1E2761"/>
          </a:solidFill>
          <a:ln/>
        </p:spPr>
      </p:sp>
      <p:sp>
        <p:nvSpPr>
          <p:cNvPr id="26" name="Text 23"/>
          <p:cNvSpPr/>
          <p:nvPr/>
        </p:nvSpPr>
        <p:spPr>
          <a:xfrm>
            <a:off x="548640" y="48920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4"/>
          <p:cNvSpPr/>
          <p:nvPr/>
        </p:nvSpPr>
        <p:spPr>
          <a:xfrm>
            <a:off x="1005840" y="4837176"/>
            <a:ext cx="10607040" cy="4114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Grad-CAM vs. a pretrained lung-segmentation model, full test set (not spot-checked)</a:t>
            </a:r>
            <a:endParaRPr lang="en-US" sz="1250" dirty="0"/>
          </a:p>
        </p:txBody>
      </p:sp>
      <p:sp>
        <p:nvSpPr>
          <p:cNvPr id="28" name="Shape 25"/>
          <p:cNvSpPr/>
          <p:nvPr/>
        </p:nvSpPr>
        <p:spPr>
          <a:xfrm>
            <a:off x="548640" y="5440680"/>
            <a:ext cx="292608" cy="292608"/>
          </a:xfrm>
          <a:prstGeom prst="roundRect">
            <a:avLst>
              <a:gd name="adj" fmla="val 15625"/>
            </a:avLst>
          </a:prstGeom>
          <a:solidFill>
            <a:srgbClr val="1E2761"/>
          </a:solidFill>
          <a:ln/>
        </p:spPr>
      </p:sp>
      <p:sp>
        <p:nvSpPr>
          <p:cNvPr id="29" name="Text 26"/>
          <p:cNvSpPr/>
          <p:nvPr/>
        </p:nvSpPr>
        <p:spPr>
          <a:xfrm>
            <a:off x="548640" y="54406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7"/>
          <p:cNvSpPr/>
          <p:nvPr/>
        </p:nvSpPr>
        <p:spPr>
          <a:xfrm>
            <a:off x="1005840" y="5385816"/>
            <a:ext cx="10607040" cy="4114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Border/text-region masking ablation</a:t>
            </a:r>
            <a:endParaRPr lang="en-US" sz="1250" dirty="0"/>
          </a:p>
        </p:txBody>
      </p:sp>
      <p:sp>
        <p:nvSpPr>
          <p:cNvPr id="31" name="Shape 28"/>
          <p:cNvSpPr/>
          <p:nvPr/>
        </p:nvSpPr>
        <p:spPr>
          <a:xfrm>
            <a:off x="548640" y="5989320"/>
            <a:ext cx="292608" cy="292608"/>
          </a:xfrm>
          <a:prstGeom prst="roundRect">
            <a:avLst>
              <a:gd name="adj" fmla="val 15625"/>
            </a:avLst>
          </a:prstGeom>
          <a:solidFill>
            <a:srgbClr val="1E2761"/>
          </a:solidFill>
          <a:ln/>
        </p:spPr>
      </p:sp>
      <p:sp>
        <p:nvSpPr>
          <p:cNvPr id="32" name="Text 29"/>
          <p:cNvSpPr/>
          <p:nvPr/>
        </p:nvSpPr>
        <p:spPr>
          <a:xfrm>
            <a:off x="548640" y="5989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0"/>
          <p:cNvSpPr/>
          <p:nvPr/>
        </p:nvSpPr>
        <p:spPr>
          <a:xfrm>
            <a:off x="1005840" y="5934456"/>
            <a:ext cx="10607040" cy="411480"/>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Logistic regression: shortcut reliance ~ age group + resolution + text-marker proxy</a:t>
            </a:r>
            <a:endParaRPr lang="en-US" sz="1250" dirty="0"/>
          </a:p>
        </p:txBody>
      </p:sp>
      <p:sp>
        <p:nvSpPr>
          <p:cNvPr id="34" name="Text 31"/>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RESULT · IN-DOMAIN PERFORMANCE</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Transfer learning wins — and it's not noise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035040" cy="1828800"/>
        </p:xfrm>
        <a:graphic>
          <a:graphicData uri="http://schemas.openxmlformats.org/drawingml/2006/table">
            <a:tbl>
              <a:tblPr/>
              <a:tblGrid>
                <a:gridCol w="1207008"/>
                <a:gridCol w="1207008"/>
                <a:gridCol w="1207008"/>
                <a:gridCol w="1207008"/>
                <a:gridCol w="1207008"/>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AUC-ROC</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r>
              <a:tr h="457200">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Baseline CNN</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0.936</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0.968</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0.940</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0.975</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ResNet-50</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0.972</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0.970</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0.990</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0.992</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DenseNet-121</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0.964</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0.965</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0.984</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0.991</a:t>
                      </a:r>
                      <a:endParaRPr lang="en-US" sz="12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3794760"/>
            <a:ext cx="6035040" cy="36576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n = 880, held-out Kaggle test set (patient-level, never seen during training)</a:t>
            </a:r>
            <a:endParaRPr lang="en-US" sz="1050" dirty="0"/>
          </a:p>
        </p:txBody>
      </p:sp>
      <p:sp>
        <p:nvSpPr>
          <p:cNvPr id="8" name="Shape 4"/>
          <p:cNvSpPr/>
          <p:nvPr/>
        </p:nvSpPr>
        <p:spPr>
          <a:xfrm>
            <a:off x="6949440" y="1783080"/>
            <a:ext cx="4709160" cy="4206240"/>
          </a:xfrm>
          <a:prstGeom prst="roundRect">
            <a:avLst>
              <a:gd name="adj" fmla="val 2174"/>
            </a:avLst>
          </a:prstGeom>
          <a:solidFill>
            <a:srgbClr val="1E2761"/>
          </a:solidFill>
          <a:ln/>
        </p:spPr>
      </p:sp>
      <p:sp>
        <p:nvSpPr>
          <p:cNvPr id="9" name="Text 5"/>
          <p:cNvSpPr/>
          <p:nvPr/>
        </p:nvSpPr>
        <p:spPr>
          <a:xfrm>
            <a:off x="7223760" y="2057400"/>
            <a:ext cx="4206240" cy="274320"/>
          </a:xfrm>
          <a:prstGeom prst="rect">
            <a:avLst/>
          </a:prstGeom>
          <a:noFill/>
          <a:ln/>
        </p:spPr>
        <p:txBody>
          <a:bodyPr wrap="square" lIns="0" tIns="0" rIns="0" bIns="0" rtlCol="0" anchor="ctr"/>
          <a:lstStyle/>
          <a:p>
            <a:pPr indent="0" marL="0">
              <a:buNone/>
            </a:pPr>
            <a:r>
              <a:rPr lang="en-US" sz="1100" b="1" spc="150" kern="0" dirty="0">
                <a:solidFill>
                  <a:srgbClr val="CADCFC"/>
                </a:solidFill>
                <a:latin typeface="Calibri" pitchFamily="34" charset="0"/>
                <a:ea typeface="Calibri" pitchFamily="34" charset="-122"/>
                <a:cs typeface="Calibri" pitchFamily="34" charset="-120"/>
              </a:rPr>
              <a:t>MCNEMAR'S EXACT TEST</a:t>
            </a:r>
            <a:endParaRPr lang="en-US" sz="1100" dirty="0"/>
          </a:p>
        </p:txBody>
      </p:sp>
      <p:sp>
        <p:nvSpPr>
          <p:cNvPr id="10" name="Text 6"/>
          <p:cNvSpPr/>
          <p:nvPr/>
        </p:nvSpPr>
        <p:spPr>
          <a:xfrm>
            <a:off x="7223760" y="2514600"/>
            <a:ext cx="420624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Baseline vs. ResNet-50</a:t>
            </a:r>
            <a:endParaRPr lang="en-US" sz="1300" dirty="0"/>
          </a:p>
        </p:txBody>
      </p:sp>
      <p:sp>
        <p:nvSpPr>
          <p:cNvPr id="11" name="Text 7"/>
          <p:cNvSpPr/>
          <p:nvPr/>
        </p:nvSpPr>
        <p:spPr>
          <a:xfrm>
            <a:off x="7223760" y="2807208"/>
            <a:ext cx="4206240" cy="32004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p = 1.5×10⁻⁵  —  significant</a:t>
            </a:r>
            <a:endParaRPr lang="en-US" sz="1300" dirty="0"/>
          </a:p>
        </p:txBody>
      </p:sp>
      <p:sp>
        <p:nvSpPr>
          <p:cNvPr id="12" name="Text 8"/>
          <p:cNvSpPr/>
          <p:nvPr/>
        </p:nvSpPr>
        <p:spPr>
          <a:xfrm>
            <a:off x="7223760" y="3429000"/>
            <a:ext cx="420624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Baseline vs. DenseNet-121</a:t>
            </a:r>
            <a:endParaRPr lang="en-US" sz="1300" dirty="0"/>
          </a:p>
        </p:txBody>
      </p:sp>
      <p:sp>
        <p:nvSpPr>
          <p:cNvPr id="13" name="Text 9"/>
          <p:cNvSpPr/>
          <p:nvPr/>
        </p:nvSpPr>
        <p:spPr>
          <a:xfrm>
            <a:off x="7223760" y="3721608"/>
            <a:ext cx="4206240" cy="320040"/>
          </a:xfrm>
          <a:prstGeom prst="rect">
            <a:avLst/>
          </a:prstGeom>
          <a:noFill/>
          <a:ln/>
        </p:spPr>
        <p:txBody>
          <a:bodyPr wrap="square" lIns="0" tIns="0" rIns="0" bIns="0" rtlCol="0" anchor="ctr"/>
          <a:lstStyle/>
          <a:p>
            <a:pPr indent="0" marL="0">
              <a:buNone/>
            </a:pPr>
            <a:r>
              <a:rPr lang="en-US" sz="1300" b="1" dirty="0">
                <a:solidFill>
                  <a:srgbClr val="6FCF97"/>
                </a:solidFill>
                <a:latin typeface="Calibri" pitchFamily="34" charset="0"/>
                <a:ea typeface="Calibri" pitchFamily="34" charset="-122"/>
                <a:cs typeface="Calibri" pitchFamily="34" charset="-120"/>
              </a:rPr>
              <a:t>p = 1.8×10⁻⁴  —  significant</a:t>
            </a:r>
            <a:endParaRPr lang="en-US" sz="1300" dirty="0"/>
          </a:p>
        </p:txBody>
      </p:sp>
      <p:sp>
        <p:nvSpPr>
          <p:cNvPr id="14" name="Text 10"/>
          <p:cNvSpPr/>
          <p:nvPr/>
        </p:nvSpPr>
        <p:spPr>
          <a:xfrm>
            <a:off x="7223760" y="4343400"/>
            <a:ext cx="420624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ResNet-50 vs. DenseNet-121</a:t>
            </a:r>
            <a:endParaRPr lang="en-US" sz="1300" dirty="0"/>
          </a:p>
        </p:txBody>
      </p:sp>
      <p:sp>
        <p:nvSpPr>
          <p:cNvPr id="15" name="Text 11"/>
          <p:cNvSpPr/>
          <p:nvPr/>
        </p:nvSpPr>
        <p:spPr>
          <a:xfrm>
            <a:off x="7223760" y="4636008"/>
            <a:ext cx="4206240" cy="320040"/>
          </a:xfrm>
          <a:prstGeom prst="rect">
            <a:avLst/>
          </a:prstGeom>
          <a:noFill/>
          <a:ln/>
        </p:spPr>
        <p:txBody>
          <a:bodyPr wrap="square" lIns="0" tIns="0" rIns="0" bIns="0" rtlCol="0" anchor="ctr"/>
          <a:lstStyle/>
          <a:p>
            <a:pPr indent="0" marL="0">
              <a:buNone/>
            </a:pPr>
            <a:r>
              <a:rPr lang="en-US" sz="1300" b="1" dirty="0">
                <a:solidFill>
                  <a:srgbClr val="8A93C4"/>
                </a:solidFill>
                <a:latin typeface="Calibri" pitchFamily="34" charset="0"/>
                <a:ea typeface="Calibri" pitchFamily="34" charset="-122"/>
                <a:cs typeface="Calibri" pitchFamily="34" charset="-120"/>
              </a:rPr>
              <a:t>p = 0.19  —  not significant</a:t>
            </a:r>
            <a:endParaRPr lang="en-US" sz="1300" dirty="0"/>
          </a:p>
        </p:txBody>
      </p:sp>
      <p:sp>
        <p:nvSpPr>
          <p:cNvPr id="16" name="Text 12"/>
          <p:cNvSpPr/>
          <p:nvPr/>
        </p:nvSpPr>
        <p:spPr>
          <a:xfrm>
            <a:off x="7223760" y="5257800"/>
            <a:ext cx="4206240" cy="640080"/>
          </a:xfrm>
          <a:prstGeom prst="rect">
            <a:avLst/>
          </a:prstGeom>
          <a:noFill/>
          <a:ln/>
        </p:spPr>
        <p:txBody>
          <a:bodyPr wrap="square" lIns="0" tIns="0" rIns="0" bIns="0"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Transfer learning significantly beats training from scratch. The choice between ResNet-50 and DenseNet-121 mostly doesn't matter.</a:t>
            </a:r>
            <a:endParaRPr lang="en-US" sz="1100" dirty="0"/>
          </a:p>
        </p:txBody>
      </p:sp>
      <p:sp>
        <p:nvSpPr>
          <p:cNvPr id="17" name="Text 1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RESULT · THE HEADLINE FINDING</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AUC-ROC collapses under domain shift — and not uniformly</a:t>
            </a:r>
            <a:endParaRPr lang="en-US" sz="3000" dirty="0"/>
          </a:p>
        </p:txBody>
      </p:sp>
      <p:graphicFrame>
        <p:nvGraphicFramePr>
          <p:cNvPr id="6" name="Chart 0" descr=""/>
          <p:cNvGraphicFramePr/>
          <p:nvPr/>
        </p:nvGraphicFramePr>
        <p:xfrm>
          <a:off x="457200" y="1737360"/>
          <a:ext cx="7680960" cy="44805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8366760" y="1737360"/>
            <a:ext cx="3291840" cy="4480560"/>
          </a:xfrm>
          <a:prstGeom prst="roundRect">
            <a:avLst>
              <a:gd name="adj" fmla="val 2778"/>
            </a:avLst>
          </a:prstGeom>
          <a:solidFill>
            <a:srgbClr val="C0392B"/>
          </a:solidFill>
          <a:ln/>
        </p:spPr>
      </p:sp>
      <p:sp>
        <p:nvSpPr>
          <p:cNvPr id="8" name="Text 4"/>
          <p:cNvSpPr/>
          <p:nvPr/>
        </p:nvSpPr>
        <p:spPr>
          <a:xfrm>
            <a:off x="8641080" y="2057400"/>
            <a:ext cx="27432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0.512</a:t>
            </a:r>
            <a:endParaRPr lang="en-US" sz="4600" dirty="0"/>
          </a:p>
        </p:txBody>
      </p:sp>
      <p:sp>
        <p:nvSpPr>
          <p:cNvPr id="9" name="Text 5"/>
          <p:cNvSpPr/>
          <p:nvPr/>
        </p:nvSpPr>
        <p:spPr>
          <a:xfrm>
            <a:off x="8641080" y="2880360"/>
            <a:ext cx="2743200" cy="100584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Baseline CNN's AUC-ROC on OpenI — 95% CI 0.469–0.556, straddling chance.</a:t>
            </a:r>
            <a:endParaRPr lang="en-US" sz="1300" dirty="0"/>
          </a:p>
        </p:txBody>
      </p:sp>
      <p:sp>
        <p:nvSpPr>
          <p:cNvPr id="10" name="Text 6"/>
          <p:cNvSpPr/>
          <p:nvPr/>
        </p:nvSpPr>
        <p:spPr>
          <a:xfrm>
            <a:off x="8641080" y="4023360"/>
            <a:ext cx="274320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Not one “domain shift” effect</a:t>
            </a:r>
            <a:endParaRPr lang="en-US" sz="1250" dirty="0"/>
          </a:p>
        </p:txBody>
      </p:sp>
      <p:sp>
        <p:nvSpPr>
          <p:cNvPr id="11" name="Text 7"/>
          <p:cNvSpPr/>
          <p:nvPr/>
        </p:nvSpPr>
        <p:spPr>
          <a:xfrm>
            <a:off x="8641080" y="4389120"/>
            <a:ext cx="2743200" cy="1554480"/>
          </a:xfrm>
          <a:prstGeom prst="rect">
            <a:avLst/>
          </a:prstGeom>
          <a:noFill/>
          <a:ln/>
        </p:spPr>
        <p:txBody>
          <a:bodyPr wrap="square" lIns="0" tIns="0" rIns="0" bIns="0" rtlCol="0" anchor="ctr"/>
          <a:lstStyle/>
          <a:p>
            <a:pPr indent="0" marL="0">
              <a:lnSpc>
                <a:spcPct val="125000"/>
              </a:lnSpc>
              <a:buNone/>
            </a:pPr>
            <a:r>
              <a:rPr lang="en-US" sz="1200" dirty="0">
                <a:solidFill>
                  <a:srgbClr val="FFD8D3"/>
                </a:solidFill>
                <a:latin typeface="Calibri" pitchFamily="34" charset="0"/>
                <a:ea typeface="Calibri" pitchFamily="34" charset="-122"/>
                <a:cs typeface="Calibri" pitchFamily="34" charset="-120"/>
              </a:rPr>
              <a:t>Each architecture ranks NIH vs. OpenI differently. A single external site cannot stand in for “externally validated.”</a:t>
            </a:r>
            <a:endParaRPr lang="en-US" sz="1200" dirty="0"/>
          </a:p>
        </p:txBody>
      </p:sp>
      <p:sp>
        <p:nvSpPr>
          <p:cNvPr id="12" name="Text 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RESULT · QUANTITATIVE SHORTCUT METRIC</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Correct answers, wrong reasons — most of the time</a:t>
            </a:r>
            <a:endParaRPr lang="en-US" sz="3000" dirty="0"/>
          </a:p>
        </p:txBody>
      </p:sp>
      <p:sp>
        <p:nvSpPr>
          <p:cNvPr id="6" name="Shape 3"/>
          <p:cNvSpPr/>
          <p:nvPr/>
        </p:nvSpPr>
        <p:spPr>
          <a:xfrm>
            <a:off x="548640" y="1737360"/>
            <a:ext cx="5349240" cy="1828800"/>
          </a:xfrm>
          <a:prstGeom prst="roundRect">
            <a:avLst>
              <a:gd name="adj" fmla="val 4000"/>
            </a:avLst>
          </a:prstGeom>
          <a:solidFill>
            <a:srgbClr val="F4F6FB"/>
          </a:solidFill>
          <a:ln/>
        </p:spPr>
      </p:sp>
      <p:sp>
        <p:nvSpPr>
          <p:cNvPr id="7" name="Text 4"/>
          <p:cNvSpPr/>
          <p:nvPr/>
        </p:nvSpPr>
        <p:spPr>
          <a:xfrm>
            <a:off x="868680" y="1874520"/>
            <a:ext cx="4663440" cy="777240"/>
          </a:xfrm>
          <a:prstGeom prst="rect">
            <a:avLst/>
          </a:prstGeom>
          <a:noFill/>
          <a:ln/>
        </p:spPr>
        <p:txBody>
          <a:bodyPr wrap="square" lIns="0" tIns="0" rIns="0" bIns="0" rtlCol="0" anchor="ctr"/>
          <a:lstStyle/>
          <a:p>
            <a:pPr indent="0" marL="0">
              <a:buNone/>
            </a:pPr>
            <a:r>
              <a:rPr lang="en-US" sz="3800" b="1" dirty="0">
                <a:solidFill>
                  <a:srgbClr val="C0392B"/>
                </a:solidFill>
                <a:latin typeface="Cambria" pitchFamily="34" charset="0"/>
                <a:ea typeface="Cambria" pitchFamily="34" charset="-122"/>
                <a:cs typeface="Cambria" pitchFamily="34" charset="-120"/>
              </a:rPr>
              <a:t>12–16%</a:t>
            </a:r>
            <a:endParaRPr lang="en-US" sz="3800" dirty="0"/>
          </a:p>
        </p:txBody>
      </p:sp>
      <p:sp>
        <p:nvSpPr>
          <p:cNvPr id="8" name="Text 5"/>
          <p:cNvSpPr/>
          <p:nvPr/>
        </p:nvSpPr>
        <p:spPr>
          <a:xfrm>
            <a:off x="868680" y="2633472"/>
            <a:ext cx="4709160" cy="457200"/>
          </a:xfrm>
          <a:prstGeom prst="rect">
            <a:avLst/>
          </a:prstGeom>
          <a:noFill/>
          <a:ln/>
        </p:spPr>
        <p:txBody>
          <a:bodyPr wrap="square" lIns="0" tIns="0" rIns="0" bIns="0" rtlCol="0" anchor="ctr"/>
          <a:lstStyle/>
          <a:p>
            <a:pPr indent="0" marL="0">
              <a:lnSpc>
                <a:spcPct val="115000"/>
              </a:lnSpc>
              <a:buNone/>
            </a:pPr>
            <a:r>
              <a:rPr lang="en-US" sz="1250" b="1" dirty="0">
                <a:solidFill>
                  <a:srgbClr val="1A1A2E"/>
                </a:solidFill>
                <a:latin typeface="Calibri" pitchFamily="34" charset="0"/>
                <a:ea typeface="Calibri" pitchFamily="34" charset="-122"/>
                <a:cs typeface="Calibri" pitchFamily="34" charset="-120"/>
              </a:rPr>
              <a:t>mean Grad-CAM / lung overlap across all three models</a:t>
            </a:r>
            <a:endParaRPr lang="en-US" sz="1250" dirty="0"/>
          </a:p>
        </p:txBody>
      </p:sp>
      <p:sp>
        <p:nvSpPr>
          <p:cNvPr id="9" name="Text 6"/>
          <p:cNvSpPr/>
          <p:nvPr/>
        </p:nvSpPr>
        <p:spPr>
          <a:xfrm>
            <a:off x="868680" y="3108960"/>
            <a:ext cx="4709160" cy="36576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(near-zero would be random; ~100% would be genuine lung-focused attention)</a:t>
            </a:r>
            <a:endParaRPr lang="en-US" sz="1000" dirty="0"/>
          </a:p>
        </p:txBody>
      </p:sp>
      <p:sp>
        <p:nvSpPr>
          <p:cNvPr id="10" name="Shape 7"/>
          <p:cNvSpPr/>
          <p:nvPr/>
        </p:nvSpPr>
        <p:spPr>
          <a:xfrm>
            <a:off x="6172200" y="1737360"/>
            <a:ext cx="5349240" cy="1828800"/>
          </a:xfrm>
          <a:prstGeom prst="roundRect">
            <a:avLst>
              <a:gd name="adj" fmla="val 4000"/>
            </a:avLst>
          </a:prstGeom>
          <a:solidFill>
            <a:srgbClr val="F4F6FB"/>
          </a:solidFill>
          <a:ln/>
        </p:spPr>
      </p:sp>
      <p:sp>
        <p:nvSpPr>
          <p:cNvPr id="11" name="Text 8"/>
          <p:cNvSpPr/>
          <p:nvPr/>
        </p:nvSpPr>
        <p:spPr>
          <a:xfrm>
            <a:off x="6492240" y="1874520"/>
            <a:ext cx="4663440" cy="777240"/>
          </a:xfrm>
          <a:prstGeom prst="rect">
            <a:avLst/>
          </a:prstGeom>
          <a:noFill/>
          <a:ln/>
        </p:spPr>
        <p:txBody>
          <a:bodyPr wrap="square" lIns="0" tIns="0" rIns="0" bIns="0" rtlCol="0" anchor="ctr"/>
          <a:lstStyle/>
          <a:p>
            <a:pPr indent="0" marL="0">
              <a:buNone/>
            </a:pPr>
            <a:r>
              <a:rPr lang="en-US" sz="3800" b="1" dirty="0">
                <a:solidFill>
                  <a:srgbClr val="C0392B"/>
                </a:solidFill>
                <a:latin typeface="Cambria" pitchFamily="34" charset="0"/>
                <a:ea typeface="Cambria" pitchFamily="34" charset="-122"/>
                <a:cs typeface="Cambria" pitchFamily="34" charset="-120"/>
              </a:rPr>
              <a:t>74–81%</a:t>
            </a:r>
            <a:endParaRPr lang="en-US" sz="3800" dirty="0"/>
          </a:p>
        </p:txBody>
      </p:sp>
      <p:sp>
        <p:nvSpPr>
          <p:cNvPr id="12" name="Text 9"/>
          <p:cNvSpPr/>
          <p:nvPr/>
        </p:nvSpPr>
        <p:spPr>
          <a:xfrm>
            <a:off x="6492240" y="2633472"/>
            <a:ext cx="4709160" cy="457200"/>
          </a:xfrm>
          <a:prstGeom prst="rect">
            <a:avLst/>
          </a:prstGeom>
          <a:noFill/>
          <a:ln/>
        </p:spPr>
        <p:txBody>
          <a:bodyPr wrap="square" lIns="0" tIns="0" rIns="0" bIns="0" rtlCol="0" anchor="ctr"/>
          <a:lstStyle/>
          <a:p>
            <a:pPr indent="0" marL="0">
              <a:lnSpc>
                <a:spcPct val="115000"/>
              </a:lnSpc>
              <a:buNone/>
            </a:pPr>
            <a:r>
              <a:rPr lang="en-US" sz="1250" b="1" dirty="0">
                <a:solidFill>
                  <a:srgbClr val="1A1A2E"/>
                </a:solidFill>
                <a:latin typeface="Calibri" pitchFamily="34" charset="0"/>
                <a:ea typeface="Calibri" pitchFamily="34" charset="-122"/>
                <a:cs typeface="Calibri" pitchFamily="34" charset="-120"/>
              </a:rPr>
              <a:t>of correctly classified cases fall under the 30% overlap cutoff</a:t>
            </a:r>
            <a:endParaRPr lang="en-US" sz="1250" dirty="0"/>
          </a:p>
        </p:txBody>
      </p:sp>
      <p:sp>
        <p:nvSpPr>
          <p:cNvPr id="13" name="Text 10"/>
          <p:cNvSpPr/>
          <p:nvPr/>
        </p:nvSpPr>
        <p:spPr>
          <a:xfrm>
            <a:off x="6492240" y="3108960"/>
            <a:ext cx="4709160" cy="36576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shortcut reliance is the median case, not a tail risk</a:t>
            </a:r>
            <a:endParaRPr lang="en-US" sz="1000" dirty="0"/>
          </a:p>
        </p:txBody>
      </p:sp>
      <p:sp>
        <p:nvSpPr>
          <p:cNvPr id="14" name="Text 11"/>
          <p:cNvSpPr/>
          <p:nvPr/>
        </p:nvSpPr>
        <p:spPr>
          <a:xfrm>
            <a:off x="548640" y="3886200"/>
            <a:ext cx="10607040" cy="27432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BORDER / TEXT-REGION MASKING — ACCURACY DROP WHEN THE OUTER 10% IS BLANKED</a:t>
            </a:r>
            <a:endParaRPr lang="en-US" sz="1100" dirty="0"/>
          </a:p>
        </p:txBody>
      </p:sp>
      <p:sp>
        <p:nvSpPr>
          <p:cNvPr id="15" name="Text 12"/>
          <p:cNvSpPr/>
          <p:nvPr/>
        </p:nvSpPr>
        <p:spPr>
          <a:xfrm>
            <a:off x="548640" y="4343400"/>
            <a:ext cx="219456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Baseline CNN</a:t>
            </a:r>
            <a:endParaRPr lang="en-US" sz="1200" dirty="0"/>
          </a:p>
        </p:txBody>
      </p:sp>
      <p:sp>
        <p:nvSpPr>
          <p:cNvPr id="16" name="Shape 13"/>
          <p:cNvSpPr/>
          <p:nvPr/>
        </p:nvSpPr>
        <p:spPr>
          <a:xfrm>
            <a:off x="2926080" y="4398264"/>
            <a:ext cx="7616952" cy="292608"/>
          </a:xfrm>
          <a:prstGeom prst="roundRect">
            <a:avLst>
              <a:gd name="adj" fmla="val 12500"/>
            </a:avLst>
          </a:prstGeom>
          <a:solidFill>
            <a:srgbClr val="C0392B"/>
          </a:solidFill>
          <a:ln/>
        </p:spPr>
      </p:sp>
      <p:sp>
        <p:nvSpPr>
          <p:cNvPr id="17" name="Text 14"/>
          <p:cNvSpPr/>
          <p:nvPr/>
        </p:nvSpPr>
        <p:spPr>
          <a:xfrm>
            <a:off x="10680192" y="4343400"/>
            <a:ext cx="2926080" cy="36576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−14.7 pts  (0.913 → 0.767)</a:t>
            </a:r>
            <a:endParaRPr lang="en-US" sz="1100" dirty="0"/>
          </a:p>
        </p:txBody>
      </p:sp>
      <p:sp>
        <p:nvSpPr>
          <p:cNvPr id="18" name="Text 15"/>
          <p:cNvSpPr/>
          <p:nvPr/>
        </p:nvSpPr>
        <p:spPr>
          <a:xfrm>
            <a:off x="548640" y="5029200"/>
            <a:ext cx="219456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ResNet-50</a:t>
            </a:r>
            <a:endParaRPr lang="en-US" sz="1200" dirty="0"/>
          </a:p>
        </p:txBody>
      </p:sp>
      <p:sp>
        <p:nvSpPr>
          <p:cNvPr id="19" name="Shape 16"/>
          <p:cNvSpPr/>
          <p:nvPr/>
        </p:nvSpPr>
        <p:spPr>
          <a:xfrm>
            <a:off x="2926080" y="5084064"/>
            <a:ext cx="673608" cy="292608"/>
          </a:xfrm>
          <a:prstGeom prst="roundRect">
            <a:avLst>
              <a:gd name="adj" fmla="val 12500"/>
            </a:avLst>
          </a:prstGeom>
          <a:solidFill>
            <a:srgbClr val="1E2761"/>
          </a:solidFill>
          <a:ln/>
        </p:spPr>
      </p:sp>
      <p:sp>
        <p:nvSpPr>
          <p:cNvPr id="20" name="Text 17"/>
          <p:cNvSpPr/>
          <p:nvPr/>
        </p:nvSpPr>
        <p:spPr>
          <a:xfrm>
            <a:off x="3736848" y="5029200"/>
            <a:ext cx="2926080" cy="36576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−1.3 pts  (0.967 → 0.953)</a:t>
            </a:r>
            <a:endParaRPr lang="en-US" sz="1100" dirty="0"/>
          </a:p>
        </p:txBody>
      </p:sp>
      <p:sp>
        <p:nvSpPr>
          <p:cNvPr id="21" name="Text 18"/>
          <p:cNvSpPr/>
          <p:nvPr/>
        </p:nvSpPr>
        <p:spPr>
          <a:xfrm>
            <a:off x="548640" y="5715000"/>
            <a:ext cx="2194560" cy="36576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DenseNet-121</a:t>
            </a:r>
            <a:endParaRPr lang="en-US" sz="1200" dirty="0"/>
          </a:p>
        </p:txBody>
      </p:sp>
      <p:sp>
        <p:nvSpPr>
          <p:cNvPr id="22" name="Shape 19"/>
          <p:cNvSpPr/>
          <p:nvPr/>
        </p:nvSpPr>
        <p:spPr>
          <a:xfrm>
            <a:off x="2926080" y="5769864"/>
            <a:ext cx="1709928" cy="292608"/>
          </a:xfrm>
          <a:prstGeom prst="roundRect">
            <a:avLst>
              <a:gd name="adj" fmla="val 12500"/>
            </a:avLst>
          </a:prstGeom>
          <a:solidFill>
            <a:srgbClr val="1E2761"/>
          </a:solidFill>
          <a:ln/>
        </p:spPr>
      </p:sp>
      <p:sp>
        <p:nvSpPr>
          <p:cNvPr id="23" name="Text 20"/>
          <p:cNvSpPr/>
          <p:nvPr/>
        </p:nvSpPr>
        <p:spPr>
          <a:xfrm>
            <a:off x="4773168" y="5715000"/>
            <a:ext cx="2926080" cy="36576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−3.3 pts  (0.980 → 0.947)</a:t>
            </a:r>
            <a:endParaRPr lang="en-US" sz="1100" dirty="0"/>
          </a:p>
        </p:txBody>
      </p:sp>
      <p:sp>
        <p:nvSpPr>
          <p:cNvPr id="24" name="Text 21"/>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NEGATIVE CASE</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Maximum confidence. Maximum wrong.</a:t>
            </a:r>
            <a:endParaRPr lang="en-US" sz="2800" dirty="0"/>
          </a:p>
        </p:txBody>
      </p:sp>
      <p:pic>
        <p:nvPicPr>
          <p:cNvPr id="4" name="Image 0" descr="/Users/charithreddypareddy/Desktop/Medical Image Classification for Disease Detection/docs/report_assets/baseline_cnn_misclassified_3_true-NORMAL_pred-PNEUMONIA_p1.00.png">    </p:cNvPr>
          <p:cNvPicPr>
            <a:picLocks noChangeAspect="1"/>
          </p:cNvPicPr>
          <p:nvPr/>
        </p:nvPicPr>
        <p:blipFill>
          <a:blip r:embed="rId1"/>
          <a:stretch>
            <a:fillRect/>
          </a:stretch>
        </p:blipFill>
        <p:spPr>
          <a:xfrm>
            <a:off x="548640" y="1508760"/>
            <a:ext cx="6675120" cy="3337560"/>
          </a:xfrm>
          <a:prstGeom prst="rect">
            <a:avLst/>
          </a:prstGeom>
        </p:spPr>
      </p:pic>
      <p:sp>
        <p:nvSpPr>
          <p:cNvPr id="5" name="Shape 2"/>
          <p:cNvSpPr/>
          <p:nvPr/>
        </p:nvSpPr>
        <p:spPr>
          <a:xfrm>
            <a:off x="7452360" y="1508760"/>
            <a:ext cx="4206240" cy="4617720"/>
          </a:xfrm>
          <a:prstGeom prst="roundRect">
            <a:avLst>
              <a:gd name="adj" fmla="val 2174"/>
            </a:avLst>
          </a:prstGeom>
          <a:solidFill>
            <a:srgbClr val="141A4A"/>
          </a:solidFill>
          <a:ln/>
        </p:spPr>
      </p:sp>
      <p:sp>
        <p:nvSpPr>
          <p:cNvPr id="6" name="Text 3"/>
          <p:cNvSpPr/>
          <p:nvPr/>
        </p:nvSpPr>
        <p:spPr>
          <a:xfrm>
            <a:off x="7726680" y="1737360"/>
            <a:ext cx="36576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Truth: NORMAL</a:t>
            </a:r>
            <a:endParaRPr lang="en-US" sz="1300" dirty="0"/>
          </a:p>
        </p:txBody>
      </p:sp>
      <p:sp>
        <p:nvSpPr>
          <p:cNvPr id="7" name="Text 4"/>
          <p:cNvSpPr/>
          <p:nvPr/>
        </p:nvSpPr>
        <p:spPr>
          <a:xfrm>
            <a:off x="7726680" y="2057400"/>
            <a:ext cx="3657600" cy="365760"/>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Predicted: PNEUMONIA (p = 1.00)</a:t>
            </a:r>
            <a:endParaRPr lang="en-US" sz="1500" dirty="0"/>
          </a:p>
        </p:txBody>
      </p:sp>
      <p:sp>
        <p:nvSpPr>
          <p:cNvPr id="8" name="Shape 5"/>
          <p:cNvSpPr/>
          <p:nvPr/>
        </p:nvSpPr>
        <p:spPr>
          <a:xfrm>
            <a:off x="7726680" y="2606040"/>
            <a:ext cx="3566160" cy="0"/>
          </a:xfrm>
          <a:prstGeom prst="line">
            <a:avLst/>
          </a:prstGeom>
          <a:noFill/>
          <a:ln w="12700">
            <a:solidFill>
              <a:srgbClr val="3A4180"/>
            </a:solidFill>
            <a:prstDash val="solid"/>
          </a:ln>
        </p:spPr>
      </p:sp>
      <p:sp>
        <p:nvSpPr>
          <p:cNvPr id="9" name="Text 6"/>
          <p:cNvSpPr/>
          <p:nvPr/>
        </p:nvSpPr>
        <p:spPr>
          <a:xfrm>
            <a:off x="7726680" y="2834640"/>
            <a:ext cx="3657600" cy="118872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Grad-CAM attention sits almost entirely on the “R” laterality marker in the top-left corner — not on any lung tissue.</a:t>
            </a:r>
            <a:endParaRPr lang="en-US" sz="1300" dirty="0"/>
          </a:p>
        </p:txBody>
      </p:sp>
      <p:sp>
        <p:nvSpPr>
          <p:cNvPr id="10" name="Text 7"/>
          <p:cNvSpPr/>
          <p:nvPr/>
        </p:nvSpPr>
        <p:spPr>
          <a:xfrm>
            <a:off x="7726680" y="4160520"/>
            <a:ext cx="3657600" cy="1737360"/>
          </a:xfrm>
          <a:prstGeom prst="rect">
            <a:avLst/>
          </a:prstGeom>
          <a:noFill/>
          <a:ln/>
        </p:spPr>
        <p:txBody>
          <a:bodyPr wrap="square" lIns="0" tIns="0" rIns="0" bIns="0" rtlCol="0" anchor="ctr"/>
          <a:lstStyle/>
          <a:p>
            <a:pPr indent="0" marL="0">
              <a:lnSpc>
                <a:spcPct val="130000"/>
              </a:lnSpc>
              <a:buNone/>
            </a:pPr>
            <a:r>
              <a:rPr lang="en-US" sz="1200" i="1" dirty="0">
                <a:solidFill>
                  <a:srgbClr val="CADCFC"/>
                </a:solidFill>
                <a:latin typeface="Calibri" pitchFamily="34" charset="0"/>
                <a:ea typeface="Calibri" pitchFamily="34" charset="-122"/>
                <a:cs typeface="Calibri" pitchFamily="34" charset="-120"/>
              </a:rPr>
              <a:t>This is not a defensible borderline call. It is a textbook shortcut-learning failure, at the model's highest possible confidence — exactly the failure mode this project set out to quantify, not just illustrate.</a:t>
            </a:r>
            <a:endParaRPr lang="en-US" sz="1200" dirty="0"/>
          </a:p>
        </p:txBody>
      </p:sp>
      <p:sp>
        <p:nvSpPr>
          <p:cNvPr id="11" name="Text 8"/>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8A93C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RESULT · AGE-ARTIFACT CAUSAL ANALYSIS</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Is shortcut reliance explained by age—or by resolution?</a:t>
            </a:r>
            <a:endParaRPr lang="en-US" sz="3000" dirty="0"/>
          </a:p>
        </p:txBody>
      </p:sp>
      <p:sp>
        <p:nvSpPr>
          <p:cNvPr id="6" name="Text 3"/>
          <p:cNvSpPr/>
          <p:nvPr/>
        </p:nvSpPr>
        <p:spPr>
          <a:xfrm>
            <a:off x="548640" y="1600200"/>
            <a:ext cx="10972800" cy="365760"/>
          </a:xfrm>
          <a:prstGeom prst="rect">
            <a:avLst/>
          </a:prstGeom>
          <a:noFill/>
          <a:ln/>
        </p:spPr>
        <p:txBody>
          <a:bodyPr wrap="square" lIns="0" tIns="0" rIns="0" bIns="0" rtlCol="0" anchor="ctr"/>
          <a:lstStyle/>
          <a:p>
            <a:pPr indent="0" marL="0">
              <a:buNone/>
            </a:pPr>
            <a:r>
              <a:rPr lang="en-US" sz="1250" dirty="0">
                <a:solidFill>
                  <a:srgbClr val="6B7280"/>
                </a:solidFill>
                <a:latin typeface="Courier New" pitchFamily="34" charset="0"/>
                <a:ea typeface="Courier New" pitchFamily="34" charset="-122"/>
                <a:cs typeface="Courier New" pitchFamily="34" charset="-120"/>
              </a:rPr>
              <a:t>shortcut_driven ~ age_group + log(image area) + aspect ratio + text-marker proxy</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64240" cy="2011680"/>
        </p:xfrm>
        <a:graphic>
          <a:graphicData uri="http://schemas.openxmlformats.org/drawingml/2006/table">
            <a:tbl>
              <a:tblPr/>
              <a:tblGrid>
                <a:gridCol w="1844040"/>
                <a:gridCol w="1844040"/>
                <a:gridCol w="1844040"/>
                <a:gridCol w="1844040"/>
                <a:gridCol w="1844040"/>
                <a:gridCol w="1844040"/>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age_group</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resolution</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text marker</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overall model</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1E2761"/>
                    </a:solidFill>
                  </a:tcPr>
                </a:tc>
              </a:tr>
              <a:tr h="50292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Baseline CNN</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n.s. (p=0.54)</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C0392B"/>
                          </a:solidFill>
                          <a:latin typeface="Calibri" pitchFamily="34" charset="0"/>
                          <a:ea typeface="Calibri" pitchFamily="34" charset="-122"/>
                          <a:cs typeface="Calibri" pitchFamily="34" charset="-120"/>
                        </a:rPr>
                        <a:t>sig. (p=0.04)</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n.s. (p=0.52)</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ResNet-50</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188</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C0392B"/>
                          </a:solidFill>
                          <a:latin typeface="Calibri" pitchFamily="34" charset="0"/>
                          <a:ea typeface="Calibri" pitchFamily="34" charset="-122"/>
                          <a:cs typeface="Calibri" pitchFamily="34" charset="-120"/>
                        </a:rPr>
                        <a:t>sig. (p=0.02)</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C0392B"/>
                          </a:solidFill>
                          <a:latin typeface="Calibri" pitchFamily="34" charset="0"/>
                          <a:ea typeface="Calibri" pitchFamily="34" charset="-122"/>
                          <a:cs typeface="Calibri" pitchFamily="34" charset="-120"/>
                        </a:rPr>
                        <a:t>sig. (p=0.01)</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C0392B"/>
                          </a:solidFill>
                          <a:latin typeface="Calibri" pitchFamily="34" charset="0"/>
                          <a:ea typeface="Calibri" pitchFamily="34" charset="-122"/>
                          <a:cs typeface="Calibri" pitchFamily="34" charset="-120"/>
                        </a:rPr>
                        <a:t>sig. (p=0.04)</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p=1.4×10⁻¹¹</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DenseNet-121</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194</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n.s. (p=0.36)</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n.s. (p=0.11)</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n.s. (p=0.28)</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2E"/>
                          </a:solidFill>
                          <a:latin typeface="Calibri" pitchFamily="34" charset="0"/>
                          <a:ea typeface="Calibri" pitchFamily="34" charset="-122"/>
                          <a:cs typeface="Calibri" pitchFamily="34" charset="-120"/>
                        </a:rPr>
                        <a:t>p=6.1×10⁻¹⁸</a:t>
                      </a:r>
                      <a:endParaRPr lang="en-US" sz="1150" dirty="0">
                        <a:latin typeface="Calibri" charset="0"/>
                        <a:ea typeface="Calibri" charset="0"/>
                        <a:cs typeface="Calibri" charset="0"/>
                      </a:endParaRPr>
                    </a:p>
                  </a:txBody>
                  <a:tcPr marL="91440" marR="91440" marT="45720" marB="45720" anchor="ctr">
                    <a:lnL w="6350" cap="flat" cmpd="sng" algn="ctr">
                      <a:solidFill>
                        <a:srgbClr val="E5E8F0"/>
                      </a:solidFill>
                      <a:prstDash val="solid"/>
                      <a:round/>
                      <a:headEnd type="none" w="med" len="med"/>
                      <a:tailEnd type="none" w="med" len="med"/>
                    </a:lnL>
                    <a:lnR w="6350" cap="flat" cmpd="sng" algn="ctr">
                      <a:solidFill>
                        <a:srgbClr val="E5E8F0"/>
                      </a:solidFill>
                      <a:prstDash val="solid"/>
                      <a:round/>
                      <a:headEnd type="none" w="med" len="med"/>
                      <a:tailEnd type="none" w="med" len="med"/>
                    </a:lnR>
                    <a:lnT w="6350" cap="flat" cmpd="sng" algn="ctr">
                      <a:solidFill>
                        <a:srgbClr val="E5E8F0"/>
                      </a:solidFill>
                      <a:prstDash val="solid"/>
                      <a:round/>
                      <a:headEnd type="none" w="med" len="med"/>
                      <a:tailEnd type="none" w="med" len="med"/>
                    </a:lnT>
                    <a:lnB w="6350" cap="flat" cmpd="sng" algn="ctr">
                      <a:solidFill>
                        <a:srgbClr val="E5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526280"/>
            <a:ext cx="11064240" cy="1691640"/>
          </a:xfrm>
          <a:prstGeom prst="roundRect">
            <a:avLst>
              <a:gd name="adj" fmla="val 5405"/>
            </a:avLst>
          </a:prstGeom>
          <a:solidFill>
            <a:srgbClr val="F4F6FB"/>
          </a:solidFill>
          <a:ln/>
        </p:spPr>
      </p:sp>
      <p:sp>
        <p:nvSpPr>
          <p:cNvPr id="9" name="Text 5"/>
          <p:cNvSpPr/>
          <p:nvPr/>
        </p:nvSpPr>
        <p:spPr>
          <a:xfrm>
            <a:off x="822960" y="4709160"/>
            <a:ext cx="2743200" cy="274320"/>
          </a:xfrm>
          <a:prstGeom prst="rect">
            <a:avLst/>
          </a:prstGeom>
          <a:noFill/>
          <a:ln/>
        </p:spPr>
        <p:txBody>
          <a:bodyPr wrap="square" lIns="0" tIns="0" rIns="0" bIns="0"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TAKEAWAY</a:t>
            </a:r>
            <a:endParaRPr lang="en-US" sz="1100" dirty="0"/>
          </a:p>
        </p:txBody>
      </p:sp>
      <p:sp>
        <p:nvSpPr>
          <p:cNvPr id="10" name="Text 6"/>
          <p:cNvSpPr/>
          <p:nvPr/>
        </p:nvSpPr>
        <p:spPr>
          <a:xfrm>
            <a:off x="822960" y="5029200"/>
            <a:ext cx="10515600" cy="1097280"/>
          </a:xfrm>
          <a:prstGeom prst="rect">
            <a:avLst/>
          </a:prstGeom>
          <a:noFill/>
          <a:ln/>
        </p:spPr>
        <p:txBody>
          <a:bodyPr wrap="square" lIns="0" tIns="0" rIns="0" bIns="0" rtlCol="0" anchor="ctr"/>
          <a:lstStyle/>
          <a:p>
            <a:pPr indent="0" marL="0">
              <a:lnSpc>
                <a:spcPct val="130000"/>
              </a:lnSpc>
              <a:buNone/>
            </a:pPr>
            <a:r>
              <a:rPr lang="en-US" sz="1300" dirty="0">
                <a:solidFill>
                  <a:srgbClr val="1A1A2E"/>
                </a:solidFill>
                <a:latin typeface="Calibri" pitchFamily="34" charset="0"/>
                <a:ea typeface="Calibri" pitchFamily="34" charset="-122"/>
                <a:cs typeface="Calibri" pitchFamily="34" charset="-120"/>
              </a:rPr>
              <a:t>“Age group” is not a consistent, well-explained predictor of shortcut reliance across architectures. Where a factor is significant, it's resolution and/or detected artifacts — measurable, mechanistic proxies — not an unexplained institutional label. That's the difference between a black-box excuse and a testable causal claim.</a:t>
            </a:r>
            <a:endParaRPr lang="en-US" sz="1300" dirty="0"/>
          </a:p>
        </p:txBody>
      </p:sp>
      <p:sp>
        <p:nvSpPr>
          <p:cNvPr id="11" name="Text 7"/>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RESPONSIBLE AI &amp; CLINICAL DEPLOYMENT</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What these numbers mean for a real deployment decision</a:t>
            </a:r>
            <a:endParaRPr lang="en-US" sz="3000" dirty="0"/>
          </a:p>
        </p:txBody>
      </p:sp>
      <p:sp>
        <p:nvSpPr>
          <p:cNvPr id="6" name="Shape 3"/>
          <p:cNvSpPr/>
          <p:nvPr/>
        </p:nvSpPr>
        <p:spPr>
          <a:xfrm>
            <a:off x="548640" y="1737360"/>
            <a:ext cx="5349240" cy="1965960"/>
          </a:xfrm>
          <a:prstGeom prst="roundRect">
            <a:avLst>
              <a:gd name="adj" fmla="val 3721"/>
            </a:avLst>
          </a:prstGeom>
          <a:solidFill>
            <a:srgbClr val="F4F6FB"/>
          </a:solidFill>
          <a:ln/>
        </p:spPr>
      </p:sp>
      <p:sp>
        <p:nvSpPr>
          <p:cNvPr id="7" name="Text 4"/>
          <p:cNvSpPr/>
          <p:nvPr/>
        </p:nvSpPr>
        <p:spPr>
          <a:xfrm>
            <a:off x="822960" y="1938528"/>
            <a:ext cx="480060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Bias &amp; data quality</a:t>
            </a:r>
            <a:endParaRPr lang="en-US" sz="1450" dirty="0"/>
          </a:p>
        </p:txBody>
      </p:sp>
      <p:sp>
        <p:nvSpPr>
          <p:cNvPr id="8" name="Text 5"/>
          <p:cNvSpPr/>
          <p:nvPr/>
        </p:nvSpPr>
        <p:spPr>
          <a:xfrm>
            <a:off x="822960" y="2395728"/>
            <a:ext cx="4800600" cy="1097280"/>
          </a:xfrm>
          <a:prstGeom prst="rect">
            <a:avLst/>
          </a:prstGeom>
          <a:noFill/>
          <a:ln/>
        </p:spPr>
        <p:txBody>
          <a:bodyPr wrap="square" lIns="0" tIns="0" rIns="0" bIns="0" rtlCol="0" anchor="ctr"/>
          <a:lstStyle/>
          <a:p>
            <a:pPr indent="0" marL="0">
              <a:lnSpc>
                <a:spcPct val="125000"/>
              </a:lnSpc>
              <a:buNone/>
            </a:pPr>
            <a:r>
              <a:rPr lang="en-US" sz="1150" dirty="0">
                <a:solidFill>
                  <a:srgbClr val="1A1A2E"/>
                </a:solidFill>
                <a:latin typeface="Calibri" pitchFamily="34" charset="0"/>
                <a:ea typeface="Calibri" pitchFamily="34" charset="-122"/>
                <a:cs typeface="Calibri" pitchFamily="34" charset="-120"/>
              </a:rPr>
              <a:t>Single-institution, pediatric training data — required active correction: patient-level re-split and re-download of ~12% corrupted training images found during verification.</a:t>
            </a:r>
            <a:endParaRPr lang="en-US" sz="1150" dirty="0"/>
          </a:p>
        </p:txBody>
      </p:sp>
      <p:sp>
        <p:nvSpPr>
          <p:cNvPr id="9" name="Shape 6"/>
          <p:cNvSpPr/>
          <p:nvPr/>
        </p:nvSpPr>
        <p:spPr>
          <a:xfrm>
            <a:off x="6172200" y="1737360"/>
            <a:ext cx="5349240" cy="1965960"/>
          </a:xfrm>
          <a:prstGeom prst="roundRect">
            <a:avLst>
              <a:gd name="adj" fmla="val 3721"/>
            </a:avLst>
          </a:prstGeom>
          <a:solidFill>
            <a:srgbClr val="F4F6FB"/>
          </a:solidFill>
          <a:ln/>
        </p:spPr>
      </p:sp>
      <p:sp>
        <p:nvSpPr>
          <p:cNvPr id="10" name="Text 7"/>
          <p:cNvSpPr/>
          <p:nvPr/>
        </p:nvSpPr>
        <p:spPr>
          <a:xfrm>
            <a:off x="6446520" y="1938528"/>
            <a:ext cx="480060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Shortcut reliance is the median case</a:t>
            </a:r>
            <a:endParaRPr lang="en-US" sz="1450" dirty="0"/>
          </a:p>
        </p:txBody>
      </p:sp>
      <p:sp>
        <p:nvSpPr>
          <p:cNvPr id="11" name="Text 8"/>
          <p:cNvSpPr/>
          <p:nvPr/>
        </p:nvSpPr>
        <p:spPr>
          <a:xfrm>
            <a:off x="6446520" y="2395728"/>
            <a:ext cx="4800600" cy="1097280"/>
          </a:xfrm>
          <a:prstGeom prst="rect">
            <a:avLst/>
          </a:prstGeom>
          <a:noFill/>
          <a:ln/>
        </p:spPr>
        <p:txBody>
          <a:bodyPr wrap="square" lIns="0" tIns="0" rIns="0" bIns="0" rtlCol="0" anchor="ctr"/>
          <a:lstStyle/>
          <a:p>
            <a:pPr indent="0" marL="0">
              <a:lnSpc>
                <a:spcPct val="125000"/>
              </a:lnSpc>
              <a:buNone/>
            </a:pPr>
            <a:r>
              <a:rPr lang="en-US" sz="1150" dirty="0">
                <a:solidFill>
                  <a:srgbClr val="1A1A2E"/>
                </a:solidFill>
                <a:latin typeface="Calibri" pitchFamily="34" charset="0"/>
                <a:ea typeface="Calibri" pitchFamily="34" charset="-122"/>
                <a:cs typeface="Calibri" pitchFamily="34" charset="-120"/>
              </a:rPr>
              <a:t>74–81% of correct predictions still show below-threshold lung overlap. This isn't a tail-risk QA catch — it's how these models mostly reach their answers.</a:t>
            </a:r>
            <a:endParaRPr lang="en-US" sz="1150" dirty="0"/>
          </a:p>
        </p:txBody>
      </p:sp>
      <p:sp>
        <p:nvSpPr>
          <p:cNvPr id="12" name="Shape 9"/>
          <p:cNvSpPr/>
          <p:nvPr/>
        </p:nvSpPr>
        <p:spPr>
          <a:xfrm>
            <a:off x="548640" y="3977640"/>
            <a:ext cx="5349240" cy="1965960"/>
          </a:xfrm>
          <a:prstGeom prst="roundRect">
            <a:avLst>
              <a:gd name="adj" fmla="val 3721"/>
            </a:avLst>
          </a:prstGeom>
          <a:solidFill>
            <a:srgbClr val="F4F6FB"/>
          </a:solidFill>
          <a:ln/>
        </p:spPr>
      </p:sp>
      <p:sp>
        <p:nvSpPr>
          <p:cNvPr id="13" name="Text 10"/>
          <p:cNvSpPr/>
          <p:nvPr/>
        </p:nvSpPr>
        <p:spPr>
          <a:xfrm>
            <a:off x="822960" y="4178808"/>
            <a:ext cx="480060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Generalization isn't one number</a:t>
            </a:r>
            <a:endParaRPr lang="en-US" sz="1450" dirty="0"/>
          </a:p>
        </p:txBody>
      </p:sp>
      <p:sp>
        <p:nvSpPr>
          <p:cNvPr id="14" name="Text 11"/>
          <p:cNvSpPr/>
          <p:nvPr/>
        </p:nvSpPr>
        <p:spPr>
          <a:xfrm>
            <a:off x="822960" y="4636008"/>
            <a:ext cx="4800600" cy="1097280"/>
          </a:xfrm>
          <a:prstGeom prst="rect">
            <a:avLst/>
          </a:prstGeom>
          <a:noFill/>
          <a:ln/>
        </p:spPr>
        <p:txBody>
          <a:bodyPr wrap="square" lIns="0" tIns="0" rIns="0" bIns="0" rtlCol="0" anchor="ctr"/>
          <a:lstStyle/>
          <a:p>
            <a:pPr indent="0" marL="0">
              <a:lnSpc>
                <a:spcPct val="125000"/>
              </a:lnSpc>
              <a:buNone/>
            </a:pPr>
            <a:r>
              <a:rPr lang="en-US" sz="1150" dirty="0">
                <a:solidFill>
                  <a:srgbClr val="1A1A2E"/>
                </a:solidFill>
                <a:latin typeface="Calibri" pitchFamily="34" charset="0"/>
                <a:ea typeface="Calibri" pitchFamily="34" charset="-122"/>
                <a:cs typeface="Calibri" pitchFamily="34" charset="-120"/>
              </a:rPr>
              <a:t>Two independent external sites degrade differently per architecture. Single-site “external validation” is not sufficient grounds for deployment claims.</a:t>
            </a:r>
            <a:endParaRPr lang="en-US" sz="1150" dirty="0"/>
          </a:p>
        </p:txBody>
      </p:sp>
      <p:sp>
        <p:nvSpPr>
          <p:cNvPr id="15" name="Shape 12"/>
          <p:cNvSpPr/>
          <p:nvPr/>
        </p:nvSpPr>
        <p:spPr>
          <a:xfrm>
            <a:off x="6172200" y="3977640"/>
            <a:ext cx="5349240" cy="1965960"/>
          </a:xfrm>
          <a:prstGeom prst="roundRect">
            <a:avLst>
              <a:gd name="adj" fmla="val 3721"/>
            </a:avLst>
          </a:prstGeom>
          <a:solidFill>
            <a:srgbClr val="1E2761"/>
          </a:solidFill>
          <a:ln/>
        </p:spPr>
      </p:sp>
      <p:sp>
        <p:nvSpPr>
          <p:cNvPr id="16" name="Text 13"/>
          <p:cNvSpPr/>
          <p:nvPr/>
        </p:nvSpPr>
        <p:spPr>
          <a:xfrm>
            <a:off x="6446520" y="4178808"/>
            <a:ext cx="4800600" cy="4114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Deployment recommendation</a:t>
            </a:r>
            <a:endParaRPr lang="en-US" sz="1450" dirty="0"/>
          </a:p>
        </p:txBody>
      </p:sp>
      <p:sp>
        <p:nvSpPr>
          <p:cNvPr id="17" name="Text 14"/>
          <p:cNvSpPr/>
          <p:nvPr/>
        </p:nvSpPr>
        <p:spPr>
          <a:xfrm>
            <a:off x="6446520" y="4636008"/>
            <a:ext cx="4800600" cy="1097280"/>
          </a:xfrm>
          <a:prstGeom prst="rect">
            <a:avLst/>
          </a:prstGeom>
          <a:noFill/>
          <a:ln/>
        </p:spPr>
        <p:txBody>
          <a:bodyPr wrap="square" lIns="0" tIns="0" rIns="0" bIns="0" rtlCol="0" anchor="ctr"/>
          <a:lstStyle/>
          <a:p>
            <a:pPr indent="0" marL="0">
              <a:lnSpc>
                <a:spcPct val="125000"/>
              </a:lnSpc>
              <a:buNone/>
            </a:pPr>
            <a:r>
              <a:rPr lang="en-US" sz="1150" dirty="0">
                <a:solidFill>
                  <a:srgbClr val="CADCFC"/>
                </a:solidFill>
                <a:latin typeface="Calibri" pitchFamily="34" charset="0"/>
                <a:ea typeface="Calibri" pitchFamily="34" charset="-122"/>
                <a:cs typeface="Calibri" pitchFamily="34" charset="-120"/>
              </a:rPr>
              <a:t>None of the three models should run autonomously outside a population resembling the training data. At most: a low-stakes second-reader signal, mandatory radiologist review, site-specific threshold recalibration, and ongoing shortcut-overlap monitoring.</a:t>
            </a:r>
            <a:endParaRPr lang="en-US" sz="1150" dirty="0"/>
          </a:p>
        </p:txBody>
      </p:sp>
      <p:sp>
        <p:nvSpPr>
          <p:cNvPr id="18" name="Text 15"/>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365760" cy="3657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649224" y="466344"/>
            <a:ext cx="164592" cy="164592"/>
          </a:xfrm>
          <a:prstGeom prst="rect">
            <a:avLst/>
          </a:prstGeom>
        </p:spPr>
      </p:pic>
      <p:sp>
        <p:nvSpPr>
          <p:cNvPr id="4" name="Text 1"/>
          <p:cNvSpPr/>
          <p:nvPr/>
        </p:nvSpPr>
        <p:spPr>
          <a:xfrm>
            <a:off x="1051560" y="384048"/>
            <a:ext cx="10588752" cy="320040"/>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LIMITATIONS</a:t>
            </a:r>
            <a:endParaRPr lang="en-US" sz="1300" dirty="0"/>
          </a:p>
        </p:txBody>
      </p:sp>
      <p:sp>
        <p:nvSpPr>
          <p:cNvPr id="5" name="Text 2"/>
          <p:cNvSpPr/>
          <p:nvPr/>
        </p:nvSpPr>
        <p:spPr>
          <a:xfrm>
            <a:off x="548640" y="658368"/>
            <a:ext cx="11091672" cy="82296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Read these numbers as real, not as ceilings</a:t>
            </a:r>
            <a:endParaRPr lang="en-US" sz="3000" dirty="0"/>
          </a:p>
        </p:txBody>
      </p:sp>
      <p:sp>
        <p:nvSpPr>
          <p:cNvPr id="6" name="Shape 3"/>
          <p:cNvSpPr/>
          <p:nvPr/>
        </p:nvSpPr>
        <p:spPr>
          <a:xfrm>
            <a:off x="548640" y="1874520"/>
            <a:ext cx="128016" cy="128016"/>
          </a:xfrm>
          <a:prstGeom prst="ellipse">
            <a:avLst/>
          </a:prstGeom>
          <a:solidFill>
            <a:srgbClr val="C0392B"/>
          </a:solidFill>
          <a:ln/>
        </p:spPr>
      </p:sp>
      <p:sp>
        <p:nvSpPr>
          <p:cNvPr id="7" name="Text 4"/>
          <p:cNvSpPr/>
          <p:nvPr/>
        </p:nvSpPr>
        <p:spPr>
          <a:xfrm>
            <a:off x="914400" y="1755648"/>
            <a:ext cx="10698480" cy="685800"/>
          </a:xfrm>
          <a:prstGeom prst="rect">
            <a:avLst/>
          </a:prstGeom>
          <a:noFill/>
          <a:ln/>
        </p:spPr>
        <p:txBody>
          <a:bodyPr wrap="square" lIns="0" tIns="0" rIns="0" bIns="0" rtlCol="0" anchor="ctr"/>
          <a:lstStyle/>
          <a:p>
            <a:pPr indent="0" marL="0">
              <a:lnSpc>
                <a:spcPct val="120000"/>
              </a:lnSpc>
              <a:buNone/>
            </a:pPr>
            <a:r>
              <a:rPr lang="en-US" sz="1350" dirty="0">
                <a:solidFill>
                  <a:srgbClr val="1A1A2E"/>
                </a:solidFill>
                <a:latin typeface="Calibri" pitchFamily="34" charset="0"/>
                <a:ea typeface="Calibri" pitchFamily="34" charset="-122"/>
                <a:cs typeface="Calibri" pitchFamily="34" charset="-120"/>
              </a:rPr>
              <a:t>Training budget (20 / 10 / 10 epochs) demonstrates real, measured phenomena — not necessarily converged optimal performance.</a:t>
            </a:r>
            <a:endParaRPr lang="en-US" sz="1350" dirty="0"/>
          </a:p>
        </p:txBody>
      </p:sp>
      <p:sp>
        <p:nvSpPr>
          <p:cNvPr id="8" name="Shape 5"/>
          <p:cNvSpPr/>
          <p:nvPr/>
        </p:nvSpPr>
        <p:spPr>
          <a:xfrm>
            <a:off x="548640" y="2715768"/>
            <a:ext cx="128016" cy="128016"/>
          </a:xfrm>
          <a:prstGeom prst="ellipse">
            <a:avLst/>
          </a:prstGeom>
          <a:solidFill>
            <a:srgbClr val="C0392B"/>
          </a:solidFill>
          <a:ln/>
        </p:spPr>
      </p:sp>
      <p:sp>
        <p:nvSpPr>
          <p:cNvPr id="9" name="Text 6"/>
          <p:cNvSpPr/>
          <p:nvPr/>
        </p:nvSpPr>
        <p:spPr>
          <a:xfrm>
            <a:off x="914400" y="2596896"/>
            <a:ext cx="10698480" cy="685800"/>
          </a:xfrm>
          <a:prstGeom prst="rect">
            <a:avLst/>
          </a:prstGeom>
          <a:noFill/>
          <a:ln/>
        </p:spPr>
        <p:txBody>
          <a:bodyPr wrap="square" lIns="0" tIns="0" rIns="0" bIns="0" rtlCol="0" anchor="ctr"/>
          <a:lstStyle/>
          <a:p>
            <a:pPr indent="0" marL="0">
              <a:lnSpc>
                <a:spcPct val="120000"/>
              </a:lnSpc>
              <a:buNone/>
            </a:pPr>
            <a:r>
              <a:rPr lang="en-US" sz="1350" dirty="0">
                <a:solidFill>
                  <a:srgbClr val="1A1A2E"/>
                </a:solidFill>
                <a:latin typeface="Calibri" pitchFamily="34" charset="0"/>
                <a:ea typeface="Calibri" pitchFamily="34" charset="-122"/>
                <a:cs typeface="Calibri" pitchFamily="34" charset="-120"/>
              </a:rPr>
              <a:t>Text-marker detection is a coarse OpenCV heuristic, not OCR — no OCR engine was available in the build environment.</a:t>
            </a:r>
            <a:endParaRPr lang="en-US" sz="1350" dirty="0"/>
          </a:p>
        </p:txBody>
      </p:sp>
      <p:sp>
        <p:nvSpPr>
          <p:cNvPr id="10" name="Shape 7"/>
          <p:cNvSpPr/>
          <p:nvPr/>
        </p:nvSpPr>
        <p:spPr>
          <a:xfrm>
            <a:off x="548640" y="3557016"/>
            <a:ext cx="128016" cy="128016"/>
          </a:xfrm>
          <a:prstGeom prst="ellipse">
            <a:avLst/>
          </a:prstGeom>
          <a:solidFill>
            <a:srgbClr val="C0392B"/>
          </a:solidFill>
          <a:ln/>
        </p:spPr>
      </p:sp>
      <p:sp>
        <p:nvSpPr>
          <p:cNvPr id="11" name="Text 8"/>
          <p:cNvSpPr/>
          <p:nvPr/>
        </p:nvSpPr>
        <p:spPr>
          <a:xfrm>
            <a:off x="914400" y="3438144"/>
            <a:ext cx="10698480" cy="685800"/>
          </a:xfrm>
          <a:prstGeom prst="rect">
            <a:avLst/>
          </a:prstGeom>
          <a:noFill/>
          <a:ln/>
        </p:spPr>
        <p:txBody>
          <a:bodyPr wrap="square" lIns="0" tIns="0" rIns="0" bIns="0" rtlCol="0" anchor="ctr"/>
          <a:lstStyle/>
          <a:p>
            <a:pPr indent="0" marL="0">
              <a:lnSpc>
                <a:spcPct val="120000"/>
              </a:lnSpc>
              <a:buNone/>
            </a:pPr>
            <a:r>
              <a:rPr lang="en-US" sz="1350" dirty="0">
                <a:solidFill>
                  <a:srgbClr val="1A1A2E"/>
                </a:solidFill>
                <a:latin typeface="Calibri" pitchFamily="34" charset="0"/>
                <a:ea typeface="Calibri" pitchFamily="34" charset="-122"/>
                <a:cs typeface="Calibri" pitchFamily="34" charset="-120"/>
              </a:rPr>
              <a:t>Causal-analysis samples (60–194 per model) are modest for a four-predictor logistic regression; individual coefficients carry wide intervals.</a:t>
            </a:r>
            <a:endParaRPr lang="en-US" sz="1350" dirty="0"/>
          </a:p>
        </p:txBody>
      </p:sp>
      <p:sp>
        <p:nvSpPr>
          <p:cNvPr id="12" name="Shape 9"/>
          <p:cNvSpPr/>
          <p:nvPr/>
        </p:nvSpPr>
        <p:spPr>
          <a:xfrm>
            <a:off x="548640" y="4398264"/>
            <a:ext cx="128016" cy="128016"/>
          </a:xfrm>
          <a:prstGeom prst="ellipse">
            <a:avLst/>
          </a:prstGeom>
          <a:solidFill>
            <a:srgbClr val="C0392B"/>
          </a:solidFill>
          <a:ln/>
        </p:spPr>
      </p:sp>
      <p:sp>
        <p:nvSpPr>
          <p:cNvPr id="13" name="Text 10"/>
          <p:cNvSpPr/>
          <p:nvPr/>
        </p:nvSpPr>
        <p:spPr>
          <a:xfrm>
            <a:off x="914400" y="4279392"/>
            <a:ext cx="10698480" cy="685800"/>
          </a:xfrm>
          <a:prstGeom prst="rect">
            <a:avLst/>
          </a:prstGeom>
          <a:noFill/>
          <a:ln/>
        </p:spPr>
        <p:txBody>
          <a:bodyPr wrap="square" lIns="0" tIns="0" rIns="0" bIns="0" rtlCol="0" anchor="ctr"/>
          <a:lstStyle/>
          <a:p>
            <a:pPr indent="0" marL="0">
              <a:lnSpc>
                <a:spcPct val="120000"/>
              </a:lnSpc>
              <a:buNone/>
            </a:pPr>
            <a:r>
              <a:rPr lang="en-US" sz="1350" dirty="0">
                <a:solidFill>
                  <a:srgbClr val="1A1A2E"/>
                </a:solidFill>
                <a:latin typeface="Calibri" pitchFamily="34" charset="0"/>
                <a:ea typeface="Calibri" pitchFamily="34" charset="-122"/>
                <a:cs typeface="Calibri" pitchFamily="34" charset="-120"/>
              </a:rPr>
              <a:t>Two external sites, not the originally planned three — CheXpert's access gate and VinDr-CXR's label/size mismatch made a third impractical in scope.</a:t>
            </a:r>
            <a:endParaRPr lang="en-US" sz="1350" dirty="0"/>
          </a:p>
        </p:txBody>
      </p:sp>
      <p:sp>
        <p:nvSpPr>
          <p:cNvPr id="14" name="Shape 11"/>
          <p:cNvSpPr/>
          <p:nvPr/>
        </p:nvSpPr>
        <p:spPr>
          <a:xfrm>
            <a:off x="548640" y="5239512"/>
            <a:ext cx="128016" cy="128016"/>
          </a:xfrm>
          <a:prstGeom prst="ellipse">
            <a:avLst/>
          </a:prstGeom>
          <a:solidFill>
            <a:srgbClr val="C0392B"/>
          </a:solidFill>
          <a:ln/>
        </p:spPr>
      </p:sp>
      <p:sp>
        <p:nvSpPr>
          <p:cNvPr id="15" name="Text 12"/>
          <p:cNvSpPr/>
          <p:nvPr/>
        </p:nvSpPr>
        <p:spPr>
          <a:xfrm>
            <a:off x="914400" y="5120640"/>
            <a:ext cx="10698480" cy="685800"/>
          </a:xfrm>
          <a:prstGeom prst="rect">
            <a:avLst/>
          </a:prstGeom>
          <a:noFill/>
          <a:ln/>
        </p:spPr>
        <p:txBody>
          <a:bodyPr wrap="square" lIns="0" tIns="0" rIns="0" bIns="0" rtlCol="0" anchor="ctr"/>
          <a:lstStyle/>
          <a:p>
            <a:pPr indent="0" marL="0">
              <a:lnSpc>
                <a:spcPct val="120000"/>
              </a:lnSpc>
              <a:buNone/>
            </a:pPr>
            <a:r>
              <a:rPr lang="en-US" sz="1350" dirty="0">
                <a:solidFill>
                  <a:srgbClr val="1A1A2E"/>
                </a:solidFill>
                <a:latin typeface="Calibri" pitchFamily="34" charset="0"/>
                <a:ea typeface="Calibri" pitchFamily="34" charset="-122"/>
                <a:cs typeface="Calibri" pitchFamily="34" charset="-120"/>
              </a:rPr>
              <a:t>The false-negative failure taxonomy is a heuristic first-pass triage, not a validated clinical categorization.</a:t>
            </a:r>
            <a:endParaRPr lang="en-US" sz="1350" dirty="0"/>
          </a:p>
        </p:txBody>
      </p:sp>
      <p:sp>
        <p:nvSpPr>
          <p:cNvPr id="16" name="Text 13"/>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AAB1C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822960"/>
            <a:ext cx="731520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822960" y="1234440"/>
            <a:ext cx="10241280" cy="137160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Transfer learning wins in-domain. Neither transfer model earns trust out-of-domain.</a:t>
            </a:r>
            <a:endParaRPr lang="en-US" sz="3000" dirty="0"/>
          </a:p>
        </p:txBody>
      </p:sp>
      <p:sp>
        <p:nvSpPr>
          <p:cNvPr id="4" name="Shape 2"/>
          <p:cNvSpPr/>
          <p:nvPr/>
        </p:nvSpPr>
        <p:spPr>
          <a:xfrm>
            <a:off x="822960" y="2926080"/>
            <a:ext cx="91440" cy="91440"/>
          </a:xfrm>
          <a:prstGeom prst="roundRect">
            <a:avLst/>
          </a:prstGeom>
          <a:solidFill>
            <a:srgbClr val="C0392B"/>
          </a:solidFill>
          <a:ln/>
        </p:spPr>
      </p:sp>
      <p:sp>
        <p:nvSpPr>
          <p:cNvPr id="5" name="Text 3"/>
          <p:cNvSpPr/>
          <p:nvPr/>
        </p:nvSpPr>
        <p:spPr>
          <a:xfrm>
            <a:off x="1143000" y="2761488"/>
            <a:ext cx="996696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Both transfer architectures significantly beat the from-scratch baseline in-domain (McNemar's p &lt; 0.001) — but that edge does not carry over to external generalization.</a:t>
            </a:r>
            <a:endParaRPr lang="en-US" sz="1400" dirty="0"/>
          </a:p>
        </p:txBody>
      </p:sp>
      <p:sp>
        <p:nvSpPr>
          <p:cNvPr id="6" name="Shape 4"/>
          <p:cNvSpPr/>
          <p:nvPr/>
        </p:nvSpPr>
        <p:spPr>
          <a:xfrm>
            <a:off x="822960" y="3858768"/>
            <a:ext cx="91440" cy="91440"/>
          </a:xfrm>
          <a:prstGeom prst="roundRect">
            <a:avLst/>
          </a:prstGeom>
          <a:solidFill>
            <a:srgbClr val="C0392B"/>
          </a:solidFill>
          <a:ln/>
        </p:spPr>
      </p:sp>
      <p:sp>
        <p:nvSpPr>
          <p:cNvPr id="7" name="Text 5"/>
          <p:cNvSpPr/>
          <p:nvPr/>
        </p:nvSpPr>
        <p:spPr>
          <a:xfrm>
            <a:off x="1143000" y="3694176"/>
            <a:ext cx="996696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All three models show substantial, non-uniform degradation on independent adult-population sites — partly threshold miscalibration, partly measured reliance on non-lung image regions.</a:t>
            </a:r>
            <a:endParaRPr lang="en-US" sz="1400" dirty="0"/>
          </a:p>
        </p:txBody>
      </p:sp>
      <p:sp>
        <p:nvSpPr>
          <p:cNvPr id="8" name="Shape 6"/>
          <p:cNvSpPr/>
          <p:nvPr/>
        </p:nvSpPr>
        <p:spPr>
          <a:xfrm>
            <a:off x="822960" y="4791456"/>
            <a:ext cx="91440" cy="91440"/>
          </a:xfrm>
          <a:prstGeom prst="roundRect">
            <a:avLst/>
          </a:prstGeom>
          <a:solidFill>
            <a:srgbClr val="C0392B"/>
          </a:solidFill>
          <a:ln/>
        </p:spPr>
      </p:sp>
      <p:sp>
        <p:nvSpPr>
          <p:cNvPr id="9" name="Text 7"/>
          <p:cNvSpPr/>
          <p:nvPr/>
        </p:nvSpPr>
        <p:spPr>
          <a:xfrm>
            <a:off x="1143000" y="4626864"/>
            <a:ext cx="996696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Where shortcut reliance is statistically explained at all, it tracks resolution and detected artifacts specifically — not an unexplained “domain shift” or “age” label.</a:t>
            </a:r>
            <a:endParaRPr lang="en-US" sz="1400" dirty="0"/>
          </a:p>
        </p:txBody>
      </p:sp>
      <p:sp>
        <p:nvSpPr>
          <p:cNvPr id="10" name="Shape 8"/>
          <p:cNvSpPr/>
          <p:nvPr/>
        </p:nvSpPr>
        <p:spPr>
          <a:xfrm>
            <a:off x="822960" y="5724144"/>
            <a:ext cx="91440" cy="91440"/>
          </a:xfrm>
          <a:prstGeom prst="roundRect">
            <a:avLst/>
          </a:prstGeom>
          <a:solidFill>
            <a:srgbClr val="C0392B"/>
          </a:solidFill>
          <a:ln/>
        </p:spPr>
      </p:sp>
      <p:sp>
        <p:nvSpPr>
          <p:cNvPr id="11" name="Text 9"/>
          <p:cNvSpPr/>
          <p:nvPr/>
        </p:nvSpPr>
        <p:spPr>
          <a:xfrm>
            <a:off x="1143000" y="5559552"/>
            <a:ext cx="9966960" cy="777240"/>
          </a:xfrm>
          <a:prstGeom prst="rect">
            <a:avLst/>
          </a:prstGeom>
          <a:noFill/>
          <a:ln/>
        </p:spPr>
        <p:txBody>
          <a:bodyPr wrap="square" lIns="0" tIns="0" rIns="0" bIns="0"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testable causal mechanism, not a black-box excuse — and a concrete argument against single-site validation as grounds for clinical deployment.</a:t>
            </a:r>
            <a:endParaRPr lang="en-US" sz="1400" dirty="0"/>
          </a:p>
        </p:txBody>
      </p:sp>
      <p:sp>
        <p:nvSpPr>
          <p:cNvPr id="12" name="Text 10"/>
          <p:cNvSpPr/>
          <p:nvPr/>
        </p:nvSpPr>
        <p:spPr>
          <a:xfrm>
            <a:off x="11365992" y="6400800"/>
            <a:ext cx="457200" cy="274320"/>
          </a:xfrm>
          <a:prstGeom prst="rect">
            <a:avLst/>
          </a:prstGeom>
          <a:noFill/>
          <a:ln/>
        </p:spPr>
        <p:txBody>
          <a:bodyPr wrap="square" lIns="0" tIns="0" rIns="0" bIns="0" rtlCol="0" anchor="ctr"/>
          <a:lstStyle/>
          <a:p>
            <a:pPr algn="r" indent="0" marL="0">
              <a:buNone/>
            </a:pPr>
            <a:r>
              <a:rPr lang="en-US" sz="1000" dirty="0">
                <a:solidFill>
                  <a:srgbClr val="8A93C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2026-08-26T15:08:12Z</dcterms:created>
  <dcterms:modified xsi:type="dcterms:W3CDTF">2026-08-26T15:08:12Z</dcterms:modified>
</cp:coreProperties>
</file>