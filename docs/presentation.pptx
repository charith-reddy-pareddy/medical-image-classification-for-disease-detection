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CNN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Kaggle (in-domain)</c:v>
                  </c:pt>
                  <c:pt idx="1">
                    <c:v>NIH (external)</c:v>
                  </c:pt>
                  <c:pt idx="2">
                    <c:v>OpenI (external)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0.975</c:v>
                </c:pt>
                <c:pt idx="1">
                  <c:v>0.62</c:v>
                </c:pt>
                <c:pt idx="2">
                  <c:v>0.512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ResNet-50</c:v>
                </c:pt>
              </c:strCache>
            </c:strRef>
          </c:tx>
          <c:spPr>
            <a:solidFill>
              <a:srgbClr val="5B7F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Kaggle (in-domain)</c:v>
                  </c:pt>
                  <c:pt idx="1">
                    <c:v>NIH (external)</c:v>
                  </c:pt>
                  <c:pt idx="2">
                    <c:v>OpenI (external)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0.992</c:v>
                </c:pt>
                <c:pt idx="1">
                  <c:v>0.707</c:v>
                </c:pt>
                <c:pt idx="2">
                  <c:v>0.575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DenseNet-121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Kaggle (in-domain)</c:v>
                  </c:pt>
                  <c:pt idx="1">
                    <c:v>NIH (external)</c:v>
                  </c:pt>
                  <c:pt idx="2">
                    <c:v>OpenI (external)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0.991</c:v>
                </c:pt>
                <c:pt idx="1">
                  <c:v>0.679</c:v>
                </c:pt>
                <c:pt idx="2">
                  <c:v>0.591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12700" cap="flat">
              <a:solidFill>
                <a:srgbClr val="E5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AUC-ROC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 DOMAIN-SHIFT &amp;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SHORTCUT-LEARNING AUDIT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pneumonia classifier that scores 97% in the hospital it was trained in—and why that number alone should not earn anyone's trust.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5989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Honors Case Study  —  Baseline CNN, ResNet-50, DenseNet-121  —  Kaggle → NIH → OpenI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shift is a documented failure, not a hypothetical 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models for medical imaging routinely reach high in-distribution accuracy, then fail silently once deployed outside the hospital system they were trained 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63093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3832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Zech et al., 2018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68503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pneumonia CNN partly learned to recognize hospital-specific scanner artifacts and text markers — not pathology.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4617720"/>
            <a:ext cx="63093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4754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DeGrave et al., 2021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505663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shortcut-learning behavior found in COVID-19 chest X-ray classifiers — this is a pattern, not a one-off.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178040" y="1691640"/>
            <a:ext cx="4480560" cy="4526280"/>
          </a:xfrm>
          <a:prstGeom prst="roundRect">
            <a:avLst>
              <a:gd name="adj" fmla="val 2041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452360" y="1965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THIS PROJECT ASKS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52360" y="237744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domain shift an unexplained black box—or a specific, testable mechanism?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452360" y="402336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audit trains three architectures on one pediatric hospital's data, tests them—without retraining—on two independent adult sites, and measures whether shortcut reliance tracks a specific, quantifiable cause.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questions, one thread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810512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accurately do CNN architectures detect pneumonia, and what drives misclassification?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79192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79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706624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performance degrade under domain shift across two independent external sites?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7530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5753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602736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a custom CNN, ResNet-50, and DenseNet-121 differ meaningfully in generalization?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471416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49884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model attending to lung tissue—or exploiting shortcut features, measured quantitatively?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367528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367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3949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shortcut reliance track age group specifically, or a more directly measurable proxy?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LABEL HARMONIZATION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institutions, one binary label, no shared schema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Kaggle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7004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Guangzhou Women &amp; Children's — pediatric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21868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5,856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368503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images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89534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pneumonia-positive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34840" y="173736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4709160" y="19659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09160" y="2240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NIH ChestX-ray14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09160" y="267004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institution — adult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09160" y="321868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61,792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709160" y="368503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images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09160" y="389534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2.3%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pneumonia-positive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321040" y="173736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4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8595360" y="19659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95360" y="2240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Indiana Univ. / OpenI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595360" y="267004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institution — adult, public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95360" y="321868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2,854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595360" y="368503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images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595360" y="3895344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5.5%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pneumonia-positive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4526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split (not image-level):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patient IDs parsed from filenames, re-split 4,416 / 560 / 880 with zero patient overlap across train/val/test — verified, not assumed.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Harmonization rule (NIH &amp; OpenI):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= 1 if “pneumonia” is present; label = 0 only if the record is explicitly “normal” / “no finding.” Anything else is an ambiguous negative — excluded, not guessed.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CheXpert (gated, no fixed access timeline) and VinDr-CXR (142GB; its competition packaging has no Pneumonia label) were both investigated and ruled out before settling on OpenI.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architectures, one evaluation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019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CNN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3042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scratch · 4 conv blocks · 20 epochs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Lower-bound benchmark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34840" y="173736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19019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ResNet-50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63440" y="23042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ImageNet-pretrained · fine-tuned · 10 epochs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63440" y="26974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transfer baseline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321040" y="173736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8549640" y="19019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DenseNet-121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49640" y="23042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ImageNet-pretrained · fine-tuned · 10 epochs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549640" y="26974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feature reuse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429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PIPELINE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373989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Bootstrapped 95% CIs + McNemar's exact test for architecture differences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34340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428853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domain-shift eval (Kaggle → NIH → OpenI), no retraining between sites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89204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4892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" y="483717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vs. a pretrained lung-segmentation model, full test set (not spot-checked)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44068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5440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38581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Border/text-region masking ablation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5989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05840" y="593445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regression: shortcut reliance ~ age group + resolution + text-marker proxy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· IN-DOMAIN PERFORMANCE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learning wins — and it's not noise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035040" cy="1828800"/>
        </p:xfrm>
        <a:graphic>
          <a:graphicData uri="http://schemas.openxmlformats.org/drawingml/2006/table">
            <a:tbl>
              <a:tblPr/>
              <a:tblGrid>
                <a:gridCol w="1207008"/>
                <a:gridCol w="1207008"/>
                <a:gridCol w="1207008"/>
                <a:gridCol w="1207008"/>
                <a:gridCol w="12070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CNN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ResNet-50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DenseNet-121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947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880, held-out Kaggle test set (patient-level, never seen during training)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949440" y="1783080"/>
            <a:ext cx="4709160" cy="420624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7223760" y="2057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 EXACT TEST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23760" y="25146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vs. ResNet-50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223760" y="28072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1.5×10⁻⁵  —  significant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223760" y="3429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vs. DenseNet-121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23760" y="37216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C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1.8×10⁻⁴  —  significant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223760" y="4343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 vs. DenseNet-121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223760" y="46360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0.19  —  not significant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223760" y="5257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significantly beats training from scratch. The choice between ResNet-50 and DenseNet-121 mostly doesn't matter.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· THE HEADLINE FINDING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AUC-ROC collapses under domain shift — and not uniformly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737360"/>
          <a:ext cx="76809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66760" y="1737360"/>
            <a:ext cx="3291840" cy="4480560"/>
          </a:xfrm>
          <a:prstGeom prst="roundRect">
            <a:avLst>
              <a:gd name="adj" fmla="val 2778"/>
            </a:avLst>
          </a:prstGeom>
          <a:solidFill>
            <a:srgbClr val="C0392B"/>
          </a:solidFill>
          <a:ln/>
        </p:spPr>
      </p:sp>
      <p:sp>
        <p:nvSpPr>
          <p:cNvPr id="6" name="Text 3"/>
          <p:cNvSpPr/>
          <p:nvPr/>
        </p:nvSpPr>
        <p:spPr>
          <a:xfrm>
            <a:off x="8641080" y="20574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0.512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641080" y="2880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CNN's AUC-ROC on OpenI — barely above the 0.5 coin-flip line.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4108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“domain shift” effect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641080" y="438912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architecture ranks NIH vs. OpenI differently. A single external site cannot stand in for “externally validated.”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· QUANTITATIVE SHORTCUT METRIC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 answers, wrong reasons — most of the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74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12–16%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68680" y="26334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Grad-CAM / lung overlap across all three models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1089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(near-zero would be random; ~100% would be genuine lung-focused attention)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874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74–81%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492240" y="26334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correctly classified cases fall under the 30% overlap cutoff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92240" y="31089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shortcut reliance is the median case, not a tail risk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886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/ TEXT-REGION MASKING — ACCURACY DROP WHEN THE OUTER 10% IS BLANKED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CNN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26080" y="4398264"/>
            <a:ext cx="7616952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10680192" y="4343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−14.7 pts  (0.913 → 0.767)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029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26080" y="5084064"/>
            <a:ext cx="673608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736848" y="5029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−1.3 pts  (0.967 → 0.953)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715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DenseNet-121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5769864"/>
            <a:ext cx="1709928" cy="29260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773168" y="5715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−3.3 pts  (0.980 → 0.947)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Maximum confidence. Maximum wrong.</a:t>
            </a:r>
            <a:endParaRPr lang="en-US" sz="2800" dirty="0"/>
          </a:p>
        </p:txBody>
      </p:sp>
      <p:pic>
        <p:nvPicPr>
          <p:cNvPr id="4" name="Image 0" descr="/Users/charithreddypareddy/Desktop/Medical Image Classification for Disease Detection/docs/report_assets/baseline_cnn_misclassified_3_true-NORMAL_pred-PNEUMONIA_p1.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67512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52360" y="1508760"/>
            <a:ext cx="4206240" cy="4617720"/>
          </a:xfrm>
          <a:prstGeom prst="roundRect">
            <a:avLst>
              <a:gd name="adj" fmla="val 2174"/>
            </a:avLst>
          </a:prstGeom>
          <a:solidFill>
            <a:srgbClr val="141A4A"/>
          </a:solidFill>
          <a:ln/>
        </p:spPr>
      </p:sp>
      <p:sp>
        <p:nvSpPr>
          <p:cNvPr id="6" name="Text 3"/>
          <p:cNvSpPr/>
          <p:nvPr/>
        </p:nvSpPr>
        <p:spPr>
          <a:xfrm>
            <a:off x="7726680" y="1737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Truth: NORMAL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2668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Predicted: PNEUMONIA (p = 1.00)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726680" y="2606040"/>
            <a:ext cx="3566160" cy="0"/>
          </a:xfrm>
          <a:prstGeom prst="line">
            <a:avLst/>
          </a:prstGeom>
          <a:noFill/>
          <a:ln w="12700">
            <a:solidFill>
              <a:srgbClr val="3A41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26680" y="28346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attention sits almost entirely on the “R” laterality marker in the top-left corner — not on any lung tissue.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26680" y="416052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defensible borderline call. It is a textbook shortcut-learning failure, at the model's highest possible confidence — exactly the failure mode this project set out to quantify, not just illustrate.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· AGE-ARTIFACT CAUSAL ANALYSIS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shortcut reliance explained by age—or by resolution?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shortcut_driven ~ age_group + log(image area) + aspect ratio + text-marker proxy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2011680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age_group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marker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CNN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(p=0.54)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sig. (p=0.04)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(p=0.52)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ResNet-50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sig. (p=0.02)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sig. (p=0.01)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sig. (p=0.04)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p=1.4×10⁻¹¹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DenseNet-121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(p=0.36)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(p=0.11)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(p=0.28)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p=6.1×10⁻¹⁸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2628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4F6FB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“Age group” is not a consistent, well-explained predictor of shortcut reliance across architectures. Where a factor is significant, it's resolution and/or detected artifacts — measurable, mechanistic proxies — not an unexplained institutional label. That's the difference between a black-box excuse and a testable causal claim.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&amp; CLINICAL DEPLOYMENT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these numbers mean for a real deployment decision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3852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&amp; data quality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2395728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Single-institution, pediatric training data — required active correction: patient-level re-split and re-download of ~12% corrupted training images found during verification.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6446520" y="193852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Shortcut reliance is the median case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46520" y="2395728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74–81% of correct predictions still show below-threshold lung overlap. This isn't a tail-risk QA catch — it's how these models mostly reach their answers.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4F6F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7880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Generalization isn't one number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22960" y="4636008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external sites degrade differently per architecture. Single-site “external validation” is not sufficient grounds for deployment claims.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417880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recommendation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4636008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models should run autonomously outside a population resembling the training data. At most: a low-stakes second-reader signal, mandatory radiologist review, site-specific threshold recalibration, and ongoing shortcut-overlap monitoring.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these numbers as real, not as ceilings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556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budget (20 / 10 / 10 epochs) demonstrates real, measured phenomena — not necessarily converged optimal performance.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715768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96896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Text-marker detection is a coarse OpenCV heuristic, not OCR — no OCR engine was available in the build environment.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57016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438144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Causal-analysis samples (60–194 per model) are modest for a four-predictor logistic regression; individual coefficients carry wide intervals.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4398264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279392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external sites, not the originally planned three — CheXpert's access gate and VinDr-CXR's label/size mismatch made a third impractical in scope.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239512"/>
            <a:ext cx="128016" cy="12801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206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false-negative failure taxonomy is a heuristic first-pass triage, not a validated clinical categorization.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learning wins in-domain. Neither transfer model earns trust out-of-domain.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91440" cy="91440"/>
          </a:xfrm>
          <a:prstGeom prst="roundRect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761488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transfer architectures significantly beat the from-scratch baseline in-domain (McNemar's p &lt; 0.001) — but that edge does not carry over to external generalization.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3858768"/>
            <a:ext cx="91440" cy="91440"/>
          </a:xfrm>
          <a:prstGeom prst="round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694176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models show substantial, non-uniform degradation on independent adult-population sites — partly threshold miscalibration, partly measured reliance on non-lung image regions.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4791456"/>
            <a:ext cx="91440" cy="91440"/>
          </a:xfrm>
          <a:prstGeom prst="round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462686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shortcut reliance is statistically explained at all, it tracks resolution and detected artifacts specifically — not an unexplained “domain shift” or “age” label.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5724144"/>
            <a:ext cx="91440" cy="91440"/>
          </a:xfrm>
          <a:prstGeom prst="round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5559552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testable causal mechanism, not a black-box excuse — and a concrete argument against single-site validation as grounds for clinical deployment.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2026-08-25T13:07:21Z</dcterms:created>
  <dcterms:modified xsi:type="dcterms:W3CDTF">2026-08-25T13:07:21Z</dcterms:modified>
</cp:coreProperties>
</file>